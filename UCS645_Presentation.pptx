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my UCS645 project on accelerating multi-agent reinforcement learning for warehouse robotics using CUDA. Our GPU-native architecture achieves a 29.6x speedup over CPU serial baseline and processes over 17 billion state evaluations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warehouse navigation problem has three key challenges. First, the state space grows as N to the fourth for an N-by-N grid — that's 160,000 states for our 20x20 grid. Second, standard ML frameworks constantly shuttle data across the PCIe bus. Third, multiple agents competing for the same cells inevitably deadlock without careful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three CUDA kernels that execute entirely on the GPU. Kernel 1 initializes the 160,000-state value table. Kernel 2 is the core — it runs parallel value iteration, solving the Bellman equation for all states simultaneously. Kernel 3 runs the multi-agent swarm, using atomic CAS for lock-free collision avoidance. The CPU only issues kernel launches and collects final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innovation: we assign one CUDA thread to each of the 160,000 MDP states. Each thread independently evaluates all four actions, computes Q-values, and selects the maximum — all in parallel. After 60 iterations of ping-ponging between two value tables, the value function converges. Total training time: just 0.545 milliseconds.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Collision avoidance uses three mechanisms working together. First, atomicCAS provides lock-free cell reservation. Second, we apply a heavy penalty of -100 to cells occupied by other robots in the value function, which causes agents to naturally route around each other. Third, tiny random noise breaks ties when multiple robots would otherwise choose identical paths — this is what finally solved our deadlock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rigorous comparison, we implemented a CPU BFS-based baseline. Each robot runs BFS every step avoiding all other robots, with randomized processing order to prevent deadlocks. It achieves 30 out of 30 deliveries in just 44 steps with 16.1ms total time. However, BFS must be recomputed every step for every robot, while our GPU approach pre-computes a global value function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GPU completes 60 value iterations over 160,000 states in just 0.545 milliseconds. That's 29.6 times faster than the CPU BFS baseline's planning time of 16.1 milliseconds. GPU throughput reaches 17.6 billion state evaluations per second. Both implementations achieve 100% delivery 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approaches achieve 30 out of 30 deliveries. The CPU BFS is actually more step-efficient — 44 steps vs 150 — because it computes optimal paths with full knowledge of all robot positions at every step. However, the GPU approach amortizes its one-time 0.545ms training cost, making it far more scalable as the number of agents and grid size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visualization pipeline generates multiple analysis artifacts. The HTML animation shows the full swarm simulation with robots navigating around obstacles and each other. The MP4 video can be embedded in presentations. Static charts show active robot timelines, congestion patterns, state-space scaling behavior, and the PCIe bottleneck breakdown.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CUDA-native architecture achieves 29.6x speedup with 100% delivery completion. Future work includes multi-GPU scaling for larger warehouses, deep RL for continuous state spaces, and battery-constrained navigation for real-world deployment.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C518"/>
          </a:solidFill>
          <a:ln/>
        </p:spPr>
      </p:sp>
      <p:sp>
        <p:nvSpPr>
          <p:cNvPr id="3" name="Shape 1"/>
          <p:cNvSpPr/>
          <p:nvPr/>
        </p:nvSpPr>
        <p:spPr>
          <a:xfrm>
            <a:off x="0" y="5088636"/>
            <a:ext cx="9144000" cy="54864"/>
          </a:xfrm>
          <a:prstGeom prst="rect">
            <a:avLst/>
          </a:prstGeom>
          <a:solidFill>
            <a:srgbClr val="00D4FF"/>
          </a:solidFill>
          <a:ln/>
        </p:spPr>
      </p:sp>
      <p:pic>
        <p:nvPicPr>
          <p:cNvPr id="4" name="Image 0" descr="preencoded.png">    </p:cNvPr>
          <p:cNvPicPr>
            <a:picLocks noChangeAspect="1"/>
          </p:cNvPicPr>
          <p:nvPr/>
        </p:nvPicPr>
        <p:blipFill>
          <a:blip r:embed="rId1"/>
          <a:stretch>
            <a:fillRect/>
          </a:stretch>
        </p:blipFill>
        <p:spPr>
          <a:xfrm>
            <a:off x="4114800" y="548640"/>
            <a:ext cx="457200" cy="457200"/>
          </a:xfrm>
          <a:prstGeom prst="rect">
            <a:avLst/>
          </a:prstGeom>
        </p:spPr>
      </p:pic>
      <p:pic>
        <p:nvPicPr>
          <p:cNvPr id="5" name="Image 1" descr="preencoded.png">    </p:cNvPr>
          <p:cNvPicPr>
            <a:picLocks noChangeAspect="1"/>
          </p:cNvPicPr>
          <p:nvPr/>
        </p:nvPicPr>
        <p:blipFill>
          <a:blip r:embed="rId2"/>
          <a:stretch>
            <a:fillRect/>
          </a:stretch>
        </p:blipFill>
        <p:spPr>
          <a:xfrm>
            <a:off x="4617720" y="548640"/>
            <a:ext cx="457200" cy="457200"/>
          </a:xfrm>
          <a:prstGeom prst="rect">
            <a:avLst/>
          </a:prstGeom>
        </p:spPr>
      </p:pic>
      <p:sp>
        <p:nvSpPr>
          <p:cNvPr id="6" name="Text 2"/>
          <p:cNvSpPr/>
          <p:nvPr/>
        </p:nvSpPr>
        <p:spPr>
          <a:xfrm>
            <a:off x="731520" y="1280160"/>
            <a:ext cx="7680960" cy="2194560"/>
          </a:xfrm>
          <a:prstGeom prst="rect">
            <a:avLst/>
          </a:prstGeom>
          <a:noFill/>
          <a:ln/>
        </p:spPr>
        <p:txBody>
          <a:bodyPr wrap="square"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Accelerating Multi-Agent</a:t>
            </a:r>
            <a:endParaRPr lang="en-US" sz="3000" dirty="0"/>
          </a:p>
          <a:p>
            <a:pPr algn="ctr" indent="0" marL="0">
              <a:buNone/>
            </a:pPr>
            <a:r>
              <a:rPr lang="en-US" sz="3000" b="1" dirty="0">
                <a:solidFill>
                  <a:srgbClr val="FFFFFF"/>
                </a:solidFill>
                <a:latin typeface="Georgia" pitchFamily="34" charset="0"/>
                <a:ea typeface="Georgia" pitchFamily="34" charset="-122"/>
                <a:cs typeface="Georgia" pitchFamily="34" charset="-120"/>
              </a:rPr>
              <a:t>Reinforcement Learning via</a:t>
            </a:r>
            <a:endParaRPr lang="en-US" sz="3000" dirty="0"/>
          </a:p>
          <a:p>
            <a:pPr algn="ctr" indent="0" marL="0">
              <a:buNone/>
            </a:pPr>
            <a:r>
              <a:rPr lang="en-US" sz="3000" b="1" dirty="0">
                <a:solidFill>
                  <a:srgbClr val="FFFFFF"/>
                </a:solidFill>
                <a:latin typeface="Georgia" pitchFamily="34" charset="0"/>
                <a:ea typeface="Georgia" pitchFamily="34" charset="-122"/>
                <a:cs typeface="Georgia" pitchFamily="34" charset="-120"/>
              </a:rPr>
              <a:t>CUDA-Native Zero-Copy Architecture</a:t>
            </a:r>
            <a:endParaRPr lang="en-US" sz="3000" dirty="0"/>
          </a:p>
        </p:txBody>
      </p:sp>
      <p:sp>
        <p:nvSpPr>
          <p:cNvPr id="7" name="Text 3"/>
          <p:cNvSpPr/>
          <p:nvPr/>
        </p:nvSpPr>
        <p:spPr>
          <a:xfrm>
            <a:off x="914400" y="3383280"/>
            <a:ext cx="7315200" cy="457200"/>
          </a:xfrm>
          <a:prstGeom prst="rect">
            <a:avLst/>
          </a:prstGeom>
          <a:noFill/>
          <a:ln/>
        </p:spPr>
        <p:txBody>
          <a:bodyPr wrap="square" rtlCol="0" anchor="ctr"/>
          <a:lstStyle/>
          <a:p>
            <a:pPr algn="ctr" indent="0" marL="0">
              <a:buNone/>
            </a:pPr>
            <a:r>
              <a:rPr lang="en-US" sz="1400" dirty="0">
                <a:solidFill>
                  <a:srgbClr val="8892B0"/>
                </a:solidFill>
                <a:latin typeface="Calibri" pitchFamily="34" charset="0"/>
                <a:ea typeface="Calibri" pitchFamily="34" charset="-122"/>
                <a:cs typeface="Calibri" pitchFamily="34" charset="-120"/>
              </a:rPr>
              <a:t>UCS645: Parallel and Distributed Computing — Project Defense</a:t>
            </a:r>
            <a:endParaRPr lang="en-US" sz="1400" dirty="0"/>
          </a:p>
        </p:txBody>
      </p:sp>
      <p:sp>
        <p:nvSpPr>
          <p:cNvPr id="8" name="Text 4"/>
          <p:cNvSpPr/>
          <p:nvPr/>
        </p:nvSpPr>
        <p:spPr>
          <a:xfrm>
            <a:off x="914400" y="3931920"/>
            <a:ext cx="7315200" cy="457200"/>
          </a:xfrm>
          <a:prstGeom prst="rect">
            <a:avLst/>
          </a:prstGeom>
          <a:noFill/>
          <a:ln/>
        </p:spPr>
        <p:txBody>
          <a:bodyPr wrap="square" rtlCol="0" anchor="ctr"/>
          <a:lstStyle/>
          <a:p>
            <a:pPr algn="ctr" indent="0" marL="0">
              <a:buNone/>
            </a:pPr>
            <a:r>
              <a:rPr lang="en-US" sz="1200" dirty="0">
                <a:solidFill>
                  <a:srgbClr val="CCD6F6"/>
                </a:solidFill>
                <a:latin typeface="Calibri" pitchFamily="34" charset="0"/>
                <a:ea typeface="Calibri" pitchFamily="34" charset="-122"/>
                <a:cs typeface="Calibri" pitchFamily="34" charset="-120"/>
              </a:rPr>
              <a:t>Nimish  |  102497027  |  Thapar Institute of Engineering &amp; Technology</a:t>
            </a:r>
            <a:endParaRPr lang="en-US" sz="1200" dirty="0"/>
          </a:p>
        </p:txBody>
      </p:sp>
      <p:sp>
        <p:nvSpPr>
          <p:cNvPr id="9" name="Text 5"/>
          <p:cNvSpPr/>
          <p:nvPr/>
        </p:nvSpPr>
        <p:spPr>
          <a:xfrm>
            <a:off x="2926080" y="4434840"/>
            <a:ext cx="1371600" cy="365760"/>
          </a:xfrm>
          <a:prstGeom prst="rect">
            <a:avLst/>
          </a:prstGeom>
          <a:noFill/>
          <a:ln/>
        </p:spPr>
        <p:txBody>
          <a:bodyPr wrap="square" rtlCol="0" anchor="ctr"/>
          <a:lstStyle/>
          <a:p>
            <a:pPr algn="r" indent="0" marL="0">
              <a:buNone/>
            </a:pPr>
            <a:r>
              <a:rPr lang="en-US" sz="2200" b="1" dirty="0">
                <a:solidFill>
                  <a:srgbClr val="F5C518"/>
                </a:solidFill>
                <a:latin typeface="Georgia" pitchFamily="34" charset="0"/>
                <a:ea typeface="Georgia" pitchFamily="34" charset="-122"/>
                <a:cs typeface="Georgia" pitchFamily="34" charset="-120"/>
              </a:rPr>
              <a:t>29.6x</a:t>
            </a:r>
            <a:endParaRPr lang="en-US" sz="2200" dirty="0"/>
          </a:p>
        </p:txBody>
      </p:sp>
      <p:sp>
        <p:nvSpPr>
          <p:cNvPr id="10" name="Text 6"/>
          <p:cNvSpPr/>
          <p:nvPr/>
        </p:nvSpPr>
        <p:spPr>
          <a:xfrm>
            <a:off x="4389120" y="4434840"/>
            <a:ext cx="1645920" cy="365760"/>
          </a:xfrm>
          <a:prstGeom prst="rect">
            <a:avLst/>
          </a:prstGeom>
          <a:noFill/>
          <a:ln/>
        </p:spPr>
        <p:txBody>
          <a:bodyPr wrap="square" rtlCol="0" anchor="ctr"/>
          <a:lstStyle/>
          <a:p>
            <a:pPr algn="l" indent="0" marL="0">
              <a:buNone/>
            </a:pPr>
            <a:r>
              <a:rPr lang="en-US" sz="1100" dirty="0">
                <a:solidFill>
                  <a:srgbClr val="CCD6F6"/>
                </a:solidFill>
                <a:latin typeface="Calibri" pitchFamily="34" charset="0"/>
                <a:ea typeface="Calibri" pitchFamily="34" charset="-122"/>
                <a:cs typeface="Calibri" pitchFamily="34" charset="-120"/>
              </a:rPr>
              <a:t>GPU Speedup</a:t>
            </a:r>
            <a:endParaRPr lang="en-US" sz="1100" dirty="0"/>
          </a:p>
        </p:txBody>
      </p:sp>
      <p:sp>
        <p:nvSpPr>
          <p:cNvPr id="11" name="Text 7"/>
          <p:cNvSpPr/>
          <p:nvPr/>
        </p:nvSpPr>
        <p:spPr>
          <a:xfrm>
            <a:off x="5852160" y="4434840"/>
            <a:ext cx="1097280" cy="365760"/>
          </a:xfrm>
          <a:prstGeom prst="rect">
            <a:avLst/>
          </a:prstGeom>
          <a:noFill/>
          <a:ln/>
        </p:spPr>
        <p:txBody>
          <a:bodyPr wrap="square" rtlCol="0" anchor="ctr"/>
          <a:lstStyle/>
          <a:p>
            <a:pPr algn="r" indent="0" marL="0">
              <a:buNone/>
            </a:pPr>
            <a:r>
              <a:rPr lang="en-US" sz="2200" b="1" dirty="0">
                <a:solidFill>
                  <a:srgbClr val="00D4FF"/>
                </a:solidFill>
                <a:latin typeface="Georgia" pitchFamily="34" charset="0"/>
                <a:ea typeface="Georgia" pitchFamily="34" charset="-122"/>
                <a:cs typeface="Georgia" pitchFamily="34" charset="-120"/>
              </a:rPr>
              <a:t>17.6B</a:t>
            </a:r>
            <a:endParaRPr lang="en-US" sz="2200" dirty="0"/>
          </a:p>
        </p:txBody>
      </p:sp>
      <p:sp>
        <p:nvSpPr>
          <p:cNvPr id="12" name="Text 8"/>
          <p:cNvSpPr/>
          <p:nvPr/>
        </p:nvSpPr>
        <p:spPr>
          <a:xfrm>
            <a:off x="6995160" y="4434840"/>
            <a:ext cx="1371600" cy="365760"/>
          </a:xfrm>
          <a:prstGeom prst="rect">
            <a:avLst/>
          </a:prstGeom>
          <a:noFill/>
          <a:ln/>
        </p:spPr>
        <p:txBody>
          <a:bodyPr wrap="square" rtlCol="0" anchor="ctr"/>
          <a:lstStyle/>
          <a:p>
            <a:pPr algn="l" indent="0" marL="0">
              <a:buNone/>
            </a:pPr>
            <a:r>
              <a:rPr lang="en-US" sz="1100" dirty="0">
                <a:solidFill>
                  <a:srgbClr val="CCD6F6"/>
                </a:solidFill>
                <a:latin typeface="Calibri" pitchFamily="34" charset="0"/>
                <a:ea typeface="Calibri" pitchFamily="34" charset="-122"/>
                <a:cs typeface="Calibri" pitchFamily="34" charset="-120"/>
              </a:rPr>
              <a:t>States/sec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5C518"/>
          </a:solidFill>
          <a:ln/>
        </p:spPr>
      </p:sp>
      <p:sp>
        <p:nvSpPr>
          <p:cNvPr id="3" name="Text 1"/>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2 / 10</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Challenge: Multi-Agent Warehouse Navigation</a:t>
            </a:r>
            <a:endParaRPr lang="en-US" sz="2600" dirty="0"/>
          </a:p>
        </p:txBody>
      </p:sp>
      <p:sp>
        <p:nvSpPr>
          <p:cNvPr id="5" name="Shape 3"/>
          <p:cNvSpPr/>
          <p:nvPr/>
        </p:nvSpPr>
        <p:spPr>
          <a:xfrm>
            <a:off x="457200" y="1097280"/>
            <a:ext cx="2651760" cy="320040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6" name="Image 0" descr="preencoded.png">    </p:cNvPr>
          <p:cNvPicPr>
            <a:picLocks noChangeAspect="1"/>
          </p:cNvPicPr>
          <p:nvPr/>
        </p:nvPicPr>
        <p:blipFill>
          <a:blip r:embed="rId1"/>
          <a:stretch>
            <a:fillRect/>
          </a:stretch>
        </p:blipFill>
        <p:spPr>
          <a:xfrm>
            <a:off x="1325880" y="1371600"/>
            <a:ext cx="411480" cy="411480"/>
          </a:xfrm>
          <a:prstGeom prst="rect">
            <a:avLst/>
          </a:prstGeom>
        </p:spPr>
      </p:pic>
      <p:sp>
        <p:nvSpPr>
          <p:cNvPr id="7" name="Shape 4"/>
          <p:cNvSpPr/>
          <p:nvPr/>
        </p:nvSpPr>
        <p:spPr>
          <a:xfrm>
            <a:off x="731520" y="1965960"/>
            <a:ext cx="2103120" cy="27432"/>
          </a:xfrm>
          <a:prstGeom prst="rect">
            <a:avLst/>
          </a:prstGeom>
          <a:solidFill>
            <a:srgbClr val="F5C518"/>
          </a:solidFill>
          <a:ln/>
        </p:spPr>
      </p:sp>
      <p:sp>
        <p:nvSpPr>
          <p:cNvPr id="8" name="Text 5"/>
          <p:cNvSpPr/>
          <p:nvPr/>
        </p:nvSpPr>
        <p:spPr>
          <a:xfrm>
            <a:off x="731520" y="2148840"/>
            <a:ext cx="210312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State-Space Explosion</a:t>
            </a:r>
            <a:endParaRPr lang="en-US" sz="1400" dirty="0"/>
          </a:p>
        </p:txBody>
      </p:sp>
      <p:sp>
        <p:nvSpPr>
          <p:cNvPr id="9" name="Text 6"/>
          <p:cNvSpPr/>
          <p:nvPr/>
        </p:nvSpPr>
        <p:spPr>
          <a:xfrm>
            <a:off x="731520" y="2606040"/>
            <a:ext cx="2103120" cy="1463040"/>
          </a:xfrm>
          <a:prstGeom prst="rect">
            <a:avLst/>
          </a:prstGeom>
          <a:noFill/>
          <a:ln/>
        </p:spPr>
        <p:txBody>
          <a:bodyPr wrap="square" rtlCol="0" anchor="t"/>
          <a:lstStyle/>
          <a:p>
            <a:pPr indent="0" marL="0">
              <a:buNone/>
            </a:pPr>
            <a:r>
              <a:rPr lang="en-US" sz="1100" dirty="0">
                <a:solidFill>
                  <a:srgbClr val="CCD6F6"/>
                </a:solidFill>
                <a:latin typeface="Calibri" pitchFamily="34" charset="0"/>
                <a:ea typeface="Calibri" pitchFamily="34" charset="-122"/>
                <a:cs typeface="Calibri" pitchFamily="34" charset="-120"/>
              </a:rPr>
              <a:t>20×20 grid × agent position × goal position = 160,000 distinct states for a SINGLE agent. CPU sequential processing cannot scale to real-time multi-agent coordination.</a:t>
            </a:r>
            <a:endParaRPr lang="en-US" sz="1100" dirty="0"/>
          </a:p>
        </p:txBody>
      </p:sp>
      <p:sp>
        <p:nvSpPr>
          <p:cNvPr id="10" name="Shape 7"/>
          <p:cNvSpPr/>
          <p:nvPr/>
        </p:nvSpPr>
        <p:spPr>
          <a:xfrm>
            <a:off x="3337560" y="1097280"/>
            <a:ext cx="2651760" cy="320040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11" name="Image 1" descr="preencoded.png">    </p:cNvPr>
          <p:cNvPicPr>
            <a:picLocks noChangeAspect="1"/>
          </p:cNvPicPr>
          <p:nvPr/>
        </p:nvPicPr>
        <p:blipFill>
          <a:blip r:embed="rId2"/>
          <a:stretch>
            <a:fillRect/>
          </a:stretch>
        </p:blipFill>
        <p:spPr>
          <a:xfrm>
            <a:off x="4206240" y="1371600"/>
            <a:ext cx="411480" cy="411480"/>
          </a:xfrm>
          <a:prstGeom prst="rect">
            <a:avLst/>
          </a:prstGeom>
        </p:spPr>
      </p:pic>
      <p:sp>
        <p:nvSpPr>
          <p:cNvPr id="12" name="Shape 8"/>
          <p:cNvSpPr/>
          <p:nvPr/>
        </p:nvSpPr>
        <p:spPr>
          <a:xfrm>
            <a:off x="3611880" y="1965960"/>
            <a:ext cx="2103120" cy="27432"/>
          </a:xfrm>
          <a:prstGeom prst="rect">
            <a:avLst/>
          </a:prstGeom>
          <a:solidFill>
            <a:srgbClr val="FF5252"/>
          </a:solidFill>
          <a:ln/>
        </p:spPr>
      </p:sp>
      <p:sp>
        <p:nvSpPr>
          <p:cNvPr id="13" name="Text 9"/>
          <p:cNvSpPr/>
          <p:nvPr/>
        </p:nvSpPr>
        <p:spPr>
          <a:xfrm>
            <a:off x="3611880" y="2148840"/>
            <a:ext cx="210312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PCIe Bottleneck</a:t>
            </a:r>
            <a:endParaRPr lang="en-US" sz="1400" dirty="0"/>
          </a:p>
        </p:txBody>
      </p:sp>
      <p:sp>
        <p:nvSpPr>
          <p:cNvPr id="14" name="Text 10"/>
          <p:cNvSpPr/>
          <p:nvPr/>
        </p:nvSpPr>
        <p:spPr>
          <a:xfrm>
            <a:off x="3611880" y="2606040"/>
            <a:ext cx="2103120" cy="1463040"/>
          </a:xfrm>
          <a:prstGeom prst="rect">
            <a:avLst/>
          </a:prstGeom>
          <a:noFill/>
          <a:ln/>
        </p:spPr>
        <p:txBody>
          <a:bodyPr wrap="square" rtlCol="0" anchor="t"/>
          <a:lstStyle/>
          <a:p>
            <a:pPr indent="0" marL="0">
              <a:buNone/>
            </a:pPr>
            <a:r>
              <a:rPr lang="en-US" sz="1100" dirty="0">
                <a:solidFill>
                  <a:srgbClr val="CCD6F6"/>
                </a:solidFill>
                <a:latin typeface="Calibri" pitchFamily="34" charset="0"/>
                <a:ea typeface="Calibri" pitchFamily="34" charset="-122"/>
                <a:cs typeface="Calibri" pitchFamily="34" charset="-120"/>
              </a:rPr>
              <a:t>Standard RL frameworks split execution: CPU runs environment, GPU trains model. Continuous PCIe transfers dominate latency (~29.7 ms/step).</a:t>
            </a:r>
            <a:endParaRPr lang="en-US" sz="1100" dirty="0"/>
          </a:p>
        </p:txBody>
      </p:sp>
      <p:sp>
        <p:nvSpPr>
          <p:cNvPr id="15" name="Shape 11"/>
          <p:cNvSpPr/>
          <p:nvPr/>
        </p:nvSpPr>
        <p:spPr>
          <a:xfrm>
            <a:off x="6217920" y="1097280"/>
            <a:ext cx="2651760" cy="320040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16" name="Image 2" descr="preencoded.png">    </p:cNvPr>
          <p:cNvPicPr>
            <a:picLocks noChangeAspect="1"/>
          </p:cNvPicPr>
          <p:nvPr/>
        </p:nvPicPr>
        <p:blipFill>
          <a:blip r:embed="rId3"/>
          <a:stretch>
            <a:fillRect/>
          </a:stretch>
        </p:blipFill>
        <p:spPr>
          <a:xfrm>
            <a:off x="7086600" y="1371600"/>
            <a:ext cx="411480" cy="411480"/>
          </a:xfrm>
          <a:prstGeom prst="rect">
            <a:avLst/>
          </a:prstGeom>
        </p:spPr>
      </p:pic>
      <p:sp>
        <p:nvSpPr>
          <p:cNvPr id="17" name="Shape 12"/>
          <p:cNvSpPr/>
          <p:nvPr/>
        </p:nvSpPr>
        <p:spPr>
          <a:xfrm>
            <a:off x="6492240" y="1965960"/>
            <a:ext cx="2103120" cy="27432"/>
          </a:xfrm>
          <a:prstGeom prst="rect">
            <a:avLst/>
          </a:prstGeom>
          <a:solidFill>
            <a:srgbClr val="00D4FF"/>
          </a:solidFill>
          <a:ln/>
        </p:spPr>
      </p:sp>
      <p:sp>
        <p:nvSpPr>
          <p:cNvPr id="18" name="Text 13"/>
          <p:cNvSpPr/>
          <p:nvPr/>
        </p:nvSpPr>
        <p:spPr>
          <a:xfrm>
            <a:off x="6492240" y="2148840"/>
            <a:ext cx="2103120" cy="45720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Multi-Agent Deadlock</a:t>
            </a:r>
            <a:endParaRPr lang="en-US" sz="1400" dirty="0"/>
          </a:p>
        </p:txBody>
      </p:sp>
      <p:sp>
        <p:nvSpPr>
          <p:cNvPr id="19" name="Text 14"/>
          <p:cNvSpPr/>
          <p:nvPr/>
        </p:nvSpPr>
        <p:spPr>
          <a:xfrm>
            <a:off x="6492240" y="2606040"/>
            <a:ext cx="2103120" cy="1463040"/>
          </a:xfrm>
          <a:prstGeom prst="rect">
            <a:avLst/>
          </a:prstGeom>
          <a:noFill/>
          <a:ln/>
        </p:spPr>
        <p:txBody>
          <a:bodyPr wrap="square" rtlCol="0" anchor="t"/>
          <a:lstStyle/>
          <a:p>
            <a:pPr indent="0" marL="0">
              <a:buNone/>
            </a:pPr>
            <a:r>
              <a:rPr lang="en-US" sz="1100" dirty="0">
                <a:solidFill>
                  <a:srgbClr val="CCD6F6"/>
                </a:solidFill>
                <a:latin typeface="Calibri" pitchFamily="34" charset="0"/>
                <a:ea typeface="Calibri" pitchFamily="34" charset="-122"/>
                <a:cs typeface="Calibri" pitchFamily="34" charset="-120"/>
              </a:rPr>
              <a:t>30 robots following greedy policies deadlock at choke points. Lock-free decentralized coordination with collision avoidance is essential.</a:t>
            </a:r>
            <a:endParaRPr lang="en-US" sz="1100" dirty="0"/>
          </a:p>
        </p:txBody>
      </p:sp>
      <p:sp>
        <p:nvSpPr>
          <p:cNvPr id="20" name="Text 15"/>
          <p:cNvSpPr/>
          <p:nvPr/>
        </p:nvSpPr>
        <p:spPr>
          <a:xfrm>
            <a:off x="914400" y="4480560"/>
            <a:ext cx="7315200" cy="365760"/>
          </a:xfrm>
          <a:prstGeom prst="rect">
            <a:avLst/>
          </a:prstGeom>
          <a:noFill/>
          <a:ln/>
        </p:spPr>
        <p:txBody>
          <a:bodyPr wrap="square" rtlCol="0" anchor="ctr"/>
          <a:lstStyle/>
          <a:p>
            <a:pPr algn="ctr" indent="0" marL="0">
              <a:buNone/>
            </a:pPr>
            <a:r>
              <a:rPr lang="en-US" sz="1200" i="1" dirty="0">
                <a:solidFill>
                  <a:srgbClr val="00D4FF"/>
                </a:solidFill>
                <a:latin typeface="Calibri" pitchFamily="34" charset="0"/>
                <a:ea typeface="Calibri" pitchFamily="34" charset="-122"/>
                <a:cs typeface="Calibri" pitchFamily="34" charset="-120"/>
              </a:rPr>
              <a:t>Core question: Can we keep the ENTIRE RL data lifecycle on the GPU and eliminate CPU-GPU transfers?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5C518"/>
          </a:solidFill>
          <a:ln/>
        </p:spPr>
      </p:sp>
      <p:sp>
        <p:nvSpPr>
          <p:cNvPr id="3" name="Text 1"/>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3 / 10</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System Architecture: 100% GPU-Resident</a:t>
            </a:r>
            <a:endParaRPr lang="en-US" sz="2600" dirty="0"/>
          </a:p>
        </p:txBody>
      </p:sp>
      <p:pic>
        <p:nvPicPr>
          <p:cNvPr id="5" name="Image 0" descr="/home/nimish/dev/vscode/parallel project/UCS645_ProjectReport_Template/images/architecture.png">    </p:cNvPr>
          <p:cNvPicPr>
            <a:picLocks noChangeAspect="1"/>
          </p:cNvPicPr>
          <p:nvPr/>
        </p:nvPicPr>
        <p:blipFill>
          <a:blip r:embed="rId1"/>
          <a:stretch>
            <a:fillRect/>
          </a:stretch>
        </p:blipFill>
        <p:spPr>
          <a:xfrm>
            <a:off x="457200" y="1005840"/>
            <a:ext cx="8229600" cy="2560320"/>
          </a:xfrm>
          <a:prstGeom prst="rect">
            <a:avLst/>
          </a:prstGeom>
        </p:spPr>
      </p:pic>
      <p:sp>
        <p:nvSpPr>
          <p:cNvPr id="6" name="Shape 3"/>
          <p:cNvSpPr/>
          <p:nvPr/>
        </p:nvSpPr>
        <p:spPr>
          <a:xfrm>
            <a:off x="548640" y="3794760"/>
            <a:ext cx="1920240" cy="86868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7" name="Shape 4"/>
          <p:cNvSpPr/>
          <p:nvPr/>
        </p:nvSpPr>
        <p:spPr>
          <a:xfrm>
            <a:off x="548640" y="3794760"/>
            <a:ext cx="1920240" cy="36576"/>
          </a:xfrm>
          <a:prstGeom prst="rect">
            <a:avLst/>
          </a:prstGeom>
          <a:solidFill>
            <a:srgbClr val="00D4FF"/>
          </a:solidFill>
          <a:ln/>
        </p:spPr>
      </p:sp>
      <p:sp>
        <p:nvSpPr>
          <p:cNvPr id="8" name="Text 5"/>
          <p:cNvSpPr/>
          <p:nvPr/>
        </p:nvSpPr>
        <p:spPr>
          <a:xfrm>
            <a:off x="685800" y="3886200"/>
            <a:ext cx="1645920" cy="274320"/>
          </a:xfrm>
          <a:prstGeom prst="rect">
            <a:avLst/>
          </a:prstGeom>
          <a:noFill/>
          <a:ln/>
        </p:spPr>
        <p:txBody>
          <a:bodyPr wrap="square"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Kernel 1</a:t>
            </a:r>
            <a:endParaRPr lang="en-US" sz="1200" dirty="0"/>
          </a:p>
        </p:txBody>
      </p:sp>
      <p:sp>
        <p:nvSpPr>
          <p:cNvPr id="9" name="Text 6"/>
          <p:cNvSpPr/>
          <p:nvPr/>
        </p:nvSpPr>
        <p:spPr>
          <a:xfrm>
            <a:off x="685800" y="4160520"/>
            <a:ext cx="1645920" cy="45720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initValueTable()</a:t>
            </a:r>
            <a:endParaRPr lang="en-US" sz="1000" dirty="0"/>
          </a:p>
          <a:p>
            <a:pPr indent="0" marL="0">
              <a:buNone/>
            </a:pPr>
            <a:r>
              <a:rPr lang="en-US" sz="1000" dirty="0">
                <a:solidFill>
                  <a:srgbClr val="CCD6F6"/>
                </a:solidFill>
                <a:latin typeface="Calibri" pitchFamily="34" charset="0"/>
                <a:ea typeface="Calibri" pitchFamily="34" charset="-122"/>
                <a:cs typeface="Calibri" pitchFamily="34" charset="-120"/>
              </a:rPr>
              <a:t>160K State Init</a:t>
            </a:r>
            <a:endParaRPr lang="en-US" sz="1000" dirty="0"/>
          </a:p>
        </p:txBody>
      </p:sp>
      <p:sp>
        <p:nvSpPr>
          <p:cNvPr id="10" name="Shape 7"/>
          <p:cNvSpPr/>
          <p:nvPr/>
        </p:nvSpPr>
        <p:spPr>
          <a:xfrm>
            <a:off x="2743200" y="3794760"/>
            <a:ext cx="1920240" cy="86868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11" name="Shape 8"/>
          <p:cNvSpPr/>
          <p:nvPr/>
        </p:nvSpPr>
        <p:spPr>
          <a:xfrm>
            <a:off x="2743200" y="3794760"/>
            <a:ext cx="1920240" cy="36576"/>
          </a:xfrm>
          <a:prstGeom prst="rect">
            <a:avLst/>
          </a:prstGeom>
          <a:solidFill>
            <a:srgbClr val="00E676"/>
          </a:solidFill>
          <a:ln/>
        </p:spPr>
      </p:sp>
      <p:sp>
        <p:nvSpPr>
          <p:cNvPr id="12" name="Text 9"/>
          <p:cNvSpPr/>
          <p:nvPr/>
        </p:nvSpPr>
        <p:spPr>
          <a:xfrm>
            <a:off x="2880360" y="3886200"/>
            <a:ext cx="1645920" cy="274320"/>
          </a:xfrm>
          <a:prstGeom prst="rect">
            <a:avLst/>
          </a:prstGeom>
          <a:noFill/>
          <a:ln/>
        </p:spPr>
        <p:txBody>
          <a:bodyPr wrap="square" rtlCol="0" anchor="ctr"/>
          <a:lstStyle/>
          <a:p>
            <a:pPr indent="0" marL="0">
              <a:buNone/>
            </a:pPr>
            <a:r>
              <a:rPr lang="en-US" sz="1200" b="1" dirty="0">
                <a:solidFill>
                  <a:srgbClr val="00E676"/>
                </a:solidFill>
                <a:latin typeface="Calibri" pitchFamily="34" charset="0"/>
                <a:ea typeface="Calibri" pitchFamily="34" charset="-122"/>
                <a:cs typeface="Calibri" pitchFamily="34" charset="-120"/>
              </a:rPr>
              <a:t>Kernel 2</a:t>
            </a:r>
            <a:endParaRPr lang="en-US" sz="1200" dirty="0"/>
          </a:p>
        </p:txBody>
      </p:sp>
      <p:sp>
        <p:nvSpPr>
          <p:cNvPr id="13" name="Text 10"/>
          <p:cNvSpPr/>
          <p:nvPr/>
        </p:nvSpPr>
        <p:spPr>
          <a:xfrm>
            <a:off x="2880360" y="4160520"/>
            <a:ext cx="1645920" cy="45720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trainRLAgent()</a:t>
            </a:r>
            <a:endParaRPr lang="en-US" sz="1000" dirty="0"/>
          </a:p>
          <a:p>
            <a:pPr indent="0" marL="0">
              <a:buNone/>
            </a:pPr>
            <a:r>
              <a:rPr lang="en-US" sz="1000" dirty="0">
                <a:solidFill>
                  <a:srgbClr val="CCD6F6"/>
                </a:solidFill>
                <a:latin typeface="Calibri" pitchFamily="34" charset="0"/>
                <a:ea typeface="Calibri" pitchFamily="34" charset="-122"/>
                <a:cs typeface="Calibri" pitchFamily="34" charset="-120"/>
              </a:rPr>
              <a:t>Bellman Solver</a:t>
            </a:r>
            <a:endParaRPr lang="en-US" sz="1000" dirty="0"/>
          </a:p>
        </p:txBody>
      </p:sp>
      <p:sp>
        <p:nvSpPr>
          <p:cNvPr id="14" name="Shape 11"/>
          <p:cNvSpPr/>
          <p:nvPr/>
        </p:nvSpPr>
        <p:spPr>
          <a:xfrm>
            <a:off x="4937760" y="3794760"/>
            <a:ext cx="1920240" cy="86868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15" name="Shape 12"/>
          <p:cNvSpPr/>
          <p:nvPr/>
        </p:nvSpPr>
        <p:spPr>
          <a:xfrm>
            <a:off x="4937760" y="3794760"/>
            <a:ext cx="1920240" cy="36576"/>
          </a:xfrm>
          <a:prstGeom prst="rect">
            <a:avLst/>
          </a:prstGeom>
          <a:solidFill>
            <a:srgbClr val="F5C518"/>
          </a:solidFill>
          <a:ln/>
        </p:spPr>
      </p:sp>
      <p:sp>
        <p:nvSpPr>
          <p:cNvPr id="16" name="Text 13"/>
          <p:cNvSpPr/>
          <p:nvPr/>
        </p:nvSpPr>
        <p:spPr>
          <a:xfrm>
            <a:off x="5074920" y="3886200"/>
            <a:ext cx="1645920" cy="274320"/>
          </a:xfrm>
          <a:prstGeom prst="rect">
            <a:avLst/>
          </a:prstGeom>
          <a:noFill/>
          <a:ln/>
        </p:spPr>
        <p:txBody>
          <a:bodyPr wrap="square" rtlCol="0" anchor="ctr"/>
          <a:lstStyle/>
          <a:p>
            <a:pPr indent="0" marL="0">
              <a:buNone/>
            </a:pPr>
            <a:r>
              <a:rPr lang="en-US" sz="1200" b="1" dirty="0">
                <a:solidFill>
                  <a:srgbClr val="F5C518"/>
                </a:solidFill>
                <a:latin typeface="Calibri" pitchFamily="34" charset="0"/>
                <a:ea typeface="Calibri" pitchFamily="34" charset="-122"/>
                <a:cs typeface="Calibri" pitchFamily="34" charset="-120"/>
              </a:rPr>
              <a:t>Kernel 3</a:t>
            </a:r>
            <a:endParaRPr lang="en-US" sz="1200" dirty="0"/>
          </a:p>
        </p:txBody>
      </p:sp>
      <p:sp>
        <p:nvSpPr>
          <p:cNvPr id="17" name="Text 14"/>
          <p:cNvSpPr/>
          <p:nvPr/>
        </p:nvSpPr>
        <p:spPr>
          <a:xfrm>
            <a:off x="5074920" y="4160520"/>
            <a:ext cx="1645920" cy="45720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runSwarm()</a:t>
            </a:r>
            <a:endParaRPr lang="en-US" sz="1000" dirty="0"/>
          </a:p>
          <a:p>
            <a:pPr indent="0" marL="0">
              <a:buNone/>
            </a:pPr>
            <a:r>
              <a:rPr lang="en-US" sz="1000" dirty="0">
                <a:solidFill>
                  <a:srgbClr val="CCD6F6"/>
                </a:solidFill>
                <a:latin typeface="Calibri" pitchFamily="34" charset="0"/>
                <a:ea typeface="Calibri" pitchFamily="34" charset="-122"/>
                <a:cs typeface="Calibri" pitchFamily="34" charset="-120"/>
              </a:rPr>
              <a:t>Collision Avoidance</a:t>
            </a:r>
            <a:endParaRPr lang="en-US" sz="1000" dirty="0"/>
          </a:p>
        </p:txBody>
      </p:sp>
      <p:sp>
        <p:nvSpPr>
          <p:cNvPr id="18" name="Shape 15"/>
          <p:cNvSpPr/>
          <p:nvPr/>
        </p:nvSpPr>
        <p:spPr>
          <a:xfrm>
            <a:off x="7132320" y="3794760"/>
            <a:ext cx="1920240" cy="86868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19" name="Shape 16"/>
          <p:cNvSpPr/>
          <p:nvPr/>
        </p:nvSpPr>
        <p:spPr>
          <a:xfrm>
            <a:off x="7132320" y="3794760"/>
            <a:ext cx="1920240" cy="36576"/>
          </a:xfrm>
          <a:prstGeom prst="rect">
            <a:avLst/>
          </a:prstGeom>
          <a:solidFill>
            <a:srgbClr val="B388FF"/>
          </a:solidFill>
          <a:ln/>
        </p:spPr>
      </p:sp>
      <p:sp>
        <p:nvSpPr>
          <p:cNvPr id="20" name="Text 17"/>
          <p:cNvSpPr/>
          <p:nvPr/>
        </p:nvSpPr>
        <p:spPr>
          <a:xfrm>
            <a:off x="7269480" y="3886200"/>
            <a:ext cx="1645920" cy="274320"/>
          </a:xfrm>
          <a:prstGeom prst="rect">
            <a:avLst/>
          </a:prstGeom>
          <a:noFill/>
          <a:ln/>
        </p:spPr>
        <p:txBody>
          <a:bodyPr wrap="square" rtlCol="0" anchor="ctr"/>
          <a:lstStyle/>
          <a:p>
            <a:pPr indent="0" marL="0">
              <a:buNone/>
            </a:pPr>
            <a:r>
              <a:rPr lang="en-US" sz="1200" b="1" dirty="0">
                <a:solidFill>
                  <a:srgbClr val="B388FF"/>
                </a:solidFill>
                <a:latin typeface="Calibri" pitchFamily="34" charset="0"/>
                <a:ea typeface="Calibri" pitchFamily="34" charset="-122"/>
                <a:cs typeface="Calibri" pitchFamily="34" charset="-120"/>
              </a:rPr>
              <a:t>Output</a:t>
            </a:r>
            <a:endParaRPr lang="en-US" sz="1200" dirty="0"/>
          </a:p>
        </p:txBody>
      </p:sp>
      <p:sp>
        <p:nvSpPr>
          <p:cNvPr id="21" name="Text 18"/>
          <p:cNvSpPr/>
          <p:nvPr/>
        </p:nvSpPr>
        <p:spPr>
          <a:xfrm>
            <a:off x="7269480" y="4160520"/>
            <a:ext cx="1645920" cy="45720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CSV + Metrics</a:t>
            </a:r>
            <a:endParaRPr lang="en-US" sz="1000" dirty="0"/>
          </a:p>
          <a:p>
            <a:pPr indent="0" marL="0">
              <a:buNone/>
            </a:pPr>
            <a:r>
              <a:rPr lang="en-US" sz="1000" dirty="0">
                <a:solidFill>
                  <a:srgbClr val="CCD6F6"/>
                </a:solidFill>
                <a:latin typeface="Calibri" pitchFamily="34" charset="0"/>
                <a:ea typeface="Calibri" pitchFamily="34" charset="-122"/>
                <a:cs typeface="Calibri" pitchFamily="34" charset="-120"/>
              </a:rPr>
              <a:t>+ Visualization</a:t>
            </a:r>
            <a:endParaRPr lang="en-US" sz="1000" dirty="0"/>
          </a:p>
        </p:txBody>
      </p:sp>
      <p:sp>
        <p:nvSpPr>
          <p:cNvPr id="22" name="Text 19"/>
          <p:cNvSpPr/>
          <p:nvPr/>
        </p:nvSpPr>
        <p:spPr>
          <a:xfrm>
            <a:off x="914400" y="4754880"/>
            <a:ext cx="7315200" cy="274320"/>
          </a:xfrm>
          <a:prstGeom prst="rect">
            <a:avLst/>
          </a:prstGeom>
          <a:noFill/>
          <a:ln/>
        </p:spPr>
        <p:txBody>
          <a:bodyPr wrap="square"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Zero PCIe transfers — All data stays in GPU VRAM from initialization through output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5C518"/>
          </a:solidFill>
          <a:ln/>
        </p:spPr>
      </p:sp>
      <p:sp>
        <p:nvSpPr>
          <p:cNvPr id="3" name="Text 1"/>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4 / 10</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Massively Parallel Value Iteration</a:t>
            </a:r>
            <a:endParaRPr lang="en-US" sz="2600" dirty="0"/>
          </a:p>
        </p:txBody>
      </p:sp>
      <p:sp>
        <p:nvSpPr>
          <p:cNvPr id="5" name="Shape 3"/>
          <p:cNvSpPr/>
          <p:nvPr/>
        </p:nvSpPr>
        <p:spPr>
          <a:xfrm>
            <a:off x="365760" y="1005840"/>
            <a:ext cx="4114800" cy="237744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6" name="Image 0" descr="preencoded.png">    </p:cNvPr>
          <p:cNvPicPr>
            <a:picLocks noChangeAspect="1"/>
          </p:cNvPicPr>
          <p:nvPr/>
        </p:nvPicPr>
        <p:blipFill>
          <a:blip r:embed="rId1"/>
          <a:stretch>
            <a:fillRect/>
          </a:stretch>
        </p:blipFill>
        <p:spPr>
          <a:xfrm>
            <a:off x="594360" y="1188720"/>
            <a:ext cx="320040" cy="320040"/>
          </a:xfrm>
          <a:prstGeom prst="rect">
            <a:avLst/>
          </a:prstGeom>
        </p:spPr>
      </p:pic>
      <p:sp>
        <p:nvSpPr>
          <p:cNvPr id="7" name="Text 4"/>
          <p:cNvSpPr/>
          <p:nvPr/>
        </p:nvSpPr>
        <p:spPr>
          <a:xfrm>
            <a:off x="1005840" y="1188720"/>
            <a:ext cx="3200400" cy="365760"/>
          </a:xfrm>
          <a:prstGeom prst="rect">
            <a:avLst/>
          </a:prstGeom>
          <a:noFill/>
          <a:ln/>
        </p:spPr>
        <p:txBody>
          <a:bodyPr wrap="square" rtlCol="0" anchor="ctr"/>
          <a:lstStyle/>
          <a:p>
            <a:pPr indent="0" marL="0">
              <a:buNone/>
            </a:pPr>
            <a:r>
              <a:rPr lang="en-US" sz="1400" b="1" dirty="0">
                <a:solidFill>
                  <a:srgbClr val="B388FF"/>
                </a:solidFill>
                <a:latin typeface="Calibri" pitchFamily="34" charset="0"/>
                <a:ea typeface="Calibri" pitchFamily="34" charset="-122"/>
                <a:cs typeface="Calibri" pitchFamily="34" charset="-120"/>
              </a:rPr>
              <a:t>Bellman Optimality Equation</a:t>
            </a:r>
            <a:endParaRPr lang="en-US" sz="1400" dirty="0"/>
          </a:p>
        </p:txBody>
      </p:sp>
      <p:sp>
        <p:nvSpPr>
          <p:cNvPr id="8" name="Text 5"/>
          <p:cNvSpPr/>
          <p:nvPr/>
        </p:nvSpPr>
        <p:spPr>
          <a:xfrm>
            <a:off x="594360" y="1691640"/>
            <a:ext cx="3657600" cy="1645920"/>
          </a:xfrm>
          <a:prstGeom prst="rect">
            <a:avLst/>
          </a:prstGeom>
          <a:noFill/>
          <a:ln/>
        </p:spPr>
        <p:txBody>
          <a:bodyPr wrap="square" rtlCol="0" anchor="t"/>
          <a:lstStyle/>
          <a:p>
            <a:pPr indent="0" marL="0">
              <a:buNone/>
            </a:pPr>
            <a:r>
              <a:rPr lang="en-US" sz="1600" dirty="0">
                <a:solidFill>
                  <a:srgbClr val="FFFFFF"/>
                </a:solidFill>
                <a:latin typeface="Consolas" pitchFamily="34" charset="0"/>
                <a:ea typeface="Consolas" pitchFamily="34" charset="-122"/>
                <a:cs typeface="Consolas" pitchFamily="34" charset="-120"/>
              </a:rPr>
              <a:t>V*(s) = max [ R(s,a) + γ · V*(s') ]</a:t>
            </a:r>
            <a:endParaRPr lang="en-US" sz="1600" dirty="0"/>
          </a:p>
          <a:p>
            <a:pPr indent="0" marL="0">
              <a:buNone/>
            </a:pPr>
            <a:endParaRPr lang="en-US" sz="1600" dirty="0"/>
          </a:p>
          <a:p>
            <a:pPr indent="0" marL="0">
              <a:buNone/>
            </a:pPr>
            <a:r>
              <a:rPr lang="en-US" sz="1000" dirty="0">
                <a:solidFill>
                  <a:srgbClr val="8892B0"/>
                </a:solidFill>
              </a:rPr>
              <a:t>s = (x, y, gx, gy)  —  agent + goal position</a:t>
            </a:r>
            <a:endParaRPr lang="en-US" sz="1600" dirty="0"/>
          </a:p>
          <a:p>
            <a:pPr indent="0" marL="0">
              <a:buNone/>
            </a:pPr>
            <a:r>
              <a:rPr lang="en-US" sz="1000" dirty="0">
                <a:solidFill>
                  <a:srgbClr val="8892B0"/>
                </a:solidFill>
              </a:rPr>
              <a:t>|S| = 20⁴ = 160,000 states</a:t>
            </a:r>
            <a:endParaRPr lang="en-US" sz="1600" dirty="0"/>
          </a:p>
          <a:p>
            <a:pPr indent="0" marL="0">
              <a:buNone/>
            </a:pPr>
            <a:r>
              <a:rPr lang="en-US" sz="1000" dirty="0">
                <a:solidFill>
                  <a:srgbClr val="8892B0"/>
                </a:solidFill>
              </a:rPr>
              <a:t>γ = 0.99  |  R_step = -1  |  R_goal = +100</a:t>
            </a:r>
            <a:endParaRPr lang="en-US" sz="1600" dirty="0"/>
          </a:p>
          <a:p>
            <a:pPr indent="0" marL="0">
              <a:buNone/>
            </a:pPr>
            <a:endParaRPr lang="en-US" sz="1600" dirty="0"/>
          </a:p>
          <a:p>
            <a:pPr indent="0" marL="0">
              <a:buNone/>
            </a:pPr>
            <a:r>
              <a:rPr lang="en-US" sz="1100" b="1" dirty="0">
                <a:solidFill>
                  <a:srgbClr val="00E676"/>
                </a:solidFill>
              </a:rPr>
              <a:t>One CUDA thread per state → 160K threads</a:t>
            </a:r>
            <a:endParaRPr lang="en-US" sz="1600" dirty="0"/>
          </a:p>
          <a:p>
            <a:pPr indent="0" marL="0">
              <a:buNone/>
            </a:pPr>
            <a:r>
              <a:rPr lang="en-US" sz="1100" dirty="0">
                <a:solidFill>
                  <a:srgbClr val="CCD6F6"/>
                </a:solidFill>
              </a:rPr>
              <a:t>625 blocks × 256 threads = full coverage</a:t>
            </a:r>
            <a:endParaRPr lang="en-US" sz="1600" dirty="0"/>
          </a:p>
        </p:txBody>
      </p:sp>
      <p:sp>
        <p:nvSpPr>
          <p:cNvPr id="9" name="Shape 6"/>
          <p:cNvSpPr/>
          <p:nvPr/>
        </p:nvSpPr>
        <p:spPr>
          <a:xfrm>
            <a:off x="4754880" y="1005840"/>
            <a:ext cx="4023360" cy="237744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10" name="Image 1" descr="preencoded.png">    </p:cNvPr>
          <p:cNvPicPr>
            <a:picLocks noChangeAspect="1"/>
          </p:cNvPicPr>
          <p:nvPr/>
        </p:nvPicPr>
        <p:blipFill>
          <a:blip r:embed="rId2"/>
          <a:stretch>
            <a:fillRect/>
          </a:stretch>
        </p:blipFill>
        <p:spPr>
          <a:xfrm>
            <a:off x="4983480" y="1188720"/>
            <a:ext cx="320040" cy="320040"/>
          </a:xfrm>
          <a:prstGeom prst="rect">
            <a:avLst/>
          </a:prstGeom>
        </p:spPr>
      </p:pic>
      <p:sp>
        <p:nvSpPr>
          <p:cNvPr id="11" name="Text 7"/>
          <p:cNvSpPr/>
          <p:nvPr/>
        </p:nvSpPr>
        <p:spPr>
          <a:xfrm>
            <a:off x="5394960" y="1188720"/>
            <a:ext cx="3200400" cy="365760"/>
          </a:xfrm>
          <a:prstGeom prst="rect">
            <a:avLst/>
          </a:prstGeom>
          <a:noFill/>
          <a:ln/>
        </p:spPr>
        <p:txBody>
          <a:bodyPr wrap="square" rtlCol="0" anchor="ctr"/>
          <a:lstStyle/>
          <a:p>
            <a:pPr indent="0" marL="0">
              <a:buNone/>
            </a:pPr>
            <a:r>
              <a:rPr lang="en-US" sz="1400" b="1" dirty="0">
                <a:solidFill>
                  <a:srgbClr val="00E676"/>
                </a:solidFill>
                <a:latin typeface="Calibri" pitchFamily="34" charset="0"/>
                <a:ea typeface="Calibri" pitchFamily="34" charset="-122"/>
                <a:cs typeface="Calibri" pitchFamily="34" charset="-120"/>
              </a:rPr>
              <a:t>GPU Training Performance</a:t>
            </a:r>
            <a:endParaRPr lang="en-US" sz="1400" dirty="0"/>
          </a:p>
        </p:txBody>
      </p:sp>
      <p:sp>
        <p:nvSpPr>
          <p:cNvPr id="12" name="Text 8"/>
          <p:cNvSpPr/>
          <p:nvPr/>
        </p:nvSpPr>
        <p:spPr>
          <a:xfrm>
            <a:off x="4983480" y="1737360"/>
            <a:ext cx="1645920" cy="274320"/>
          </a:xfrm>
          <a:prstGeom prst="rect">
            <a:avLst/>
          </a:prstGeom>
          <a:noFill/>
          <a:ln/>
        </p:spPr>
        <p:txBody>
          <a:bodyPr wrap="square" rtlCol="0" anchor="ctr"/>
          <a:lstStyle/>
          <a:p>
            <a:pPr indent="0" marL="0">
              <a:buNone/>
            </a:pPr>
            <a:r>
              <a:rPr lang="en-US" sz="1600" b="1" dirty="0">
                <a:solidFill>
                  <a:srgbClr val="F5C518"/>
                </a:solidFill>
                <a:latin typeface="Calibri" pitchFamily="34" charset="0"/>
                <a:ea typeface="Calibri" pitchFamily="34" charset="-122"/>
                <a:cs typeface="Calibri" pitchFamily="34" charset="-120"/>
              </a:rPr>
              <a:t>0.545 ms</a:t>
            </a:r>
            <a:endParaRPr lang="en-US" sz="1600" dirty="0"/>
          </a:p>
        </p:txBody>
      </p:sp>
      <p:sp>
        <p:nvSpPr>
          <p:cNvPr id="13" name="Text 9"/>
          <p:cNvSpPr/>
          <p:nvPr/>
        </p:nvSpPr>
        <p:spPr>
          <a:xfrm>
            <a:off x="6675120" y="1737360"/>
            <a:ext cx="1920240" cy="27432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60 Iterations × 160K States</a:t>
            </a:r>
            <a:endParaRPr lang="en-US" sz="1000" dirty="0"/>
          </a:p>
        </p:txBody>
      </p:sp>
      <p:sp>
        <p:nvSpPr>
          <p:cNvPr id="14" name="Text 10"/>
          <p:cNvSpPr/>
          <p:nvPr/>
        </p:nvSpPr>
        <p:spPr>
          <a:xfrm>
            <a:off x="4983480" y="2148840"/>
            <a:ext cx="1645920" cy="274320"/>
          </a:xfrm>
          <a:prstGeom prst="rect">
            <a:avLst/>
          </a:prstGeom>
          <a:noFill/>
          <a:ln/>
        </p:spPr>
        <p:txBody>
          <a:bodyPr wrap="square" rtlCol="0" anchor="ctr"/>
          <a:lstStyle/>
          <a:p>
            <a:pPr indent="0" marL="0">
              <a:buNone/>
            </a:pPr>
            <a:r>
              <a:rPr lang="en-US" sz="1600" b="1" dirty="0">
                <a:solidFill>
                  <a:srgbClr val="F5C518"/>
                </a:solidFill>
                <a:latin typeface="Calibri" pitchFamily="34" charset="0"/>
                <a:ea typeface="Calibri" pitchFamily="34" charset="-122"/>
                <a:cs typeface="Calibri" pitchFamily="34" charset="-120"/>
              </a:rPr>
              <a:t>17.6B</a:t>
            </a:r>
            <a:endParaRPr lang="en-US" sz="1600" dirty="0"/>
          </a:p>
        </p:txBody>
      </p:sp>
      <p:sp>
        <p:nvSpPr>
          <p:cNvPr id="15" name="Text 11"/>
          <p:cNvSpPr/>
          <p:nvPr/>
        </p:nvSpPr>
        <p:spPr>
          <a:xfrm>
            <a:off x="6675120" y="2148840"/>
            <a:ext cx="1920240" cy="27432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State Evaluations per Second</a:t>
            </a:r>
            <a:endParaRPr lang="en-US" sz="1000" dirty="0"/>
          </a:p>
        </p:txBody>
      </p:sp>
      <p:sp>
        <p:nvSpPr>
          <p:cNvPr id="16" name="Text 12"/>
          <p:cNvSpPr/>
          <p:nvPr/>
        </p:nvSpPr>
        <p:spPr>
          <a:xfrm>
            <a:off x="4983480" y="2560320"/>
            <a:ext cx="1645920" cy="274320"/>
          </a:xfrm>
          <a:prstGeom prst="rect">
            <a:avLst/>
          </a:prstGeom>
          <a:noFill/>
          <a:ln/>
        </p:spPr>
        <p:txBody>
          <a:bodyPr wrap="square" rtlCol="0" anchor="ctr"/>
          <a:lstStyle/>
          <a:p>
            <a:pPr indent="0" marL="0">
              <a:buNone/>
            </a:pPr>
            <a:r>
              <a:rPr lang="en-US" sz="1600" b="1" dirty="0">
                <a:solidFill>
                  <a:srgbClr val="F5C518"/>
                </a:solidFill>
                <a:latin typeface="Calibri" pitchFamily="34" charset="0"/>
                <a:ea typeface="Calibri" pitchFamily="34" charset="-122"/>
                <a:cs typeface="Calibri" pitchFamily="34" charset="-120"/>
              </a:rPr>
              <a:t>625</a:t>
            </a:r>
            <a:endParaRPr lang="en-US" sz="1600" dirty="0"/>
          </a:p>
        </p:txBody>
      </p:sp>
      <p:sp>
        <p:nvSpPr>
          <p:cNvPr id="17" name="Text 13"/>
          <p:cNvSpPr/>
          <p:nvPr/>
        </p:nvSpPr>
        <p:spPr>
          <a:xfrm>
            <a:off x="6675120" y="2560320"/>
            <a:ext cx="1920240" cy="27432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Thread Blocks (256 threads each)</a:t>
            </a:r>
            <a:endParaRPr lang="en-US" sz="1000" dirty="0"/>
          </a:p>
        </p:txBody>
      </p:sp>
      <p:sp>
        <p:nvSpPr>
          <p:cNvPr id="18" name="Text 14"/>
          <p:cNvSpPr/>
          <p:nvPr/>
        </p:nvSpPr>
        <p:spPr>
          <a:xfrm>
            <a:off x="4983480" y="2971800"/>
            <a:ext cx="1645920" cy="274320"/>
          </a:xfrm>
          <a:prstGeom prst="rect">
            <a:avLst/>
          </a:prstGeom>
          <a:noFill/>
          <a:ln/>
        </p:spPr>
        <p:txBody>
          <a:bodyPr wrap="square" rtlCol="0" anchor="ctr"/>
          <a:lstStyle/>
          <a:p>
            <a:pPr indent="0" marL="0">
              <a:buNone/>
            </a:pPr>
            <a:r>
              <a:rPr lang="en-US" sz="1600" b="1" dirty="0">
                <a:solidFill>
                  <a:srgbClr val="F5C518"/>
                </a:solidFill>
                <a:latin typeface="Calibri" pitchFamily="34" charset="0"/>
                <a:ea typeface="Calibri" pitchFamily="34" charset="-122"/>
                <a:cs typeface="Calibri" pitchFamily="34" charset="-120"/>
              </a:rPr>
              <a:t>0</a:t>
            </a:r>
            <a:endParaRPr lang="en-US" sz="1600" dirty="0"/>
          </a:p>
        </p:txBody>
      </p:sp>
      <p:sp>
        <p:nvSpPr>
          <p:cNvPr id="19" name="Text 15"/>
          <p:cNvSpPr/>
          <p:nvPr/>
        </p:nvSpPr>
        <p:spPr>
          <a:xfrm>
            <a:off x="6675120" y="2971800"/>
            <a:ext cx="1920240" cy="27432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PCIe Transfers During Training</a:t>
            </a:r>
            <a:endParaRPr lang="en-US" sz="1000" dirty="0"/>
          </a:p>
        </p:txBody>
      </p:sp>
      <p:pic>
        <p:nvPicPr>
          <p:cNvPr id="20" name="Image 2" descr="/home/nimish/dev/vscode/parallel project/UCS645_ProjectReport_Template/images/convergence.png">    </p:cNvPr>
          <p:cNvPicPr>
            <a:picLocks noChangeAspect="1"/>
          </p:cNvPicPr>
          <p:nvPr/>
        </p:nvPicPr>
        <p:blipFill>
          <a:blip r:embed="rId3"/>
          <a:stretch>
            <a:fillRect/>
          </a:stretch>
        </p:blipFill>
        <p:spPr>
          <a:xfrm>
            <a:off x="365760" y="3566160"/>
            <a:ext cx="8412480" cy="15544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5C518"/>
          </a:solidFill>
          <a:ln/>
        </p:spPr>
      </p:sp>
      <p:sp>
        <p:nvSpPr>
          <p:cNvPr id="3" name="Text 1"/>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5 / 10</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Lock-Free Multi-Agent Collision Avoidance</a:t>
            </a:r>
            <a:endParaRPr lang="en-US" sz="2600" dirty="0"/>
          </a:p>
        </p:txBody>
      </p:sp>
      <p:sp>
        <p:nvSpPr>
          <p:cNvPr id="5" name="Shape 3"/>
          <p:cNvSpPr/>
          <p:nvPr/>
        </p:nvSpPr>
        <p:spPr>
          <a:xfrm>
            <a:off x="320040" y="1005840"/>
            <a:ext cx="2743200" cy="246888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6" name="Image 0" descr="preencoded.png">    </p:cNvPr>
          <p:cNvPicPr>
            <a:picLocks noChangeAspect="1"/>
          </p:cNvPicPr>
          <p:nvPr/>
        </p:nvPicPr>
        <p:blipFill>
          <a:blip r:embed="rId1"/>
          <a:stretch>
            <a:fillRect/>
          </a:stretch>
        </p:blipFill>
        <p:spPr>
          <a:xfrm>
            <a:off x="502920" y="1188720"/>
            <a:ext cx="365760" cy="365760"/>
          </a:xfrm>
          <a:prstGeom prst="rect">
            <a:avLst/>
          </a:prstGeom>
        </p:spPr>
      </p:pic>
      <p:sp>
        <p:nvSpPr>
          <p:cNvPr id="7" name="Text 4"/>
          <p:cNvSpPr/>
          <p:nvPr/>
        </p:nvSpPr>
        <p:spPr>
          <a:xfrm>
            <a:off x="960120" y="1234440"/>
            <a:ext cx="1920240" cy="320040"/>
          </a:xfrm>
          <a:prstGeom prst="rect">
            <a:avLst/>
          </a:prstGeom>
          <a:noFill/>
          <a:ln/>
        </p:spPr>
        <p:txBody>
          <a:bodyPr wrap="square" rtlCol="0" anchor="ctr"/>
          <a:lstStyle/>
          <a:p>
            <a:pPr indent="0" marL="0">
              <a:buNone/>
            </a:pPr>
            <a:r>
              <a:rPr lang="en-US" sz="1400" b="1" dirty="0">
                <a:solidFill>
                  <a:srgbClr val="00E676"/>
                </a:solidFill>
                <a:latin typeface="Calibri" pitchFamily="34" charset="0"/>
                <a:ea typeface="Calibri" pitchFamily="34" charset="-122"/>
                <a:cs typeface="Calibri" pitchFamily="34" charset="-120"/>
              </a:rPr>
              <a:t>atomicCAS Locking</a:t>
            </a:r>
            <a:endParaRPr lang="en-US" sz="1400" dirty="0"/>
          </a:p>
        </p:txBody>
      </p:sp>
      <p:sp>
        <p:nvSpPr>
          <p:cNvPr id="8" name="Shape 5"/>
          <p:cNvSpPr/>
          <p:nvPr/>
        </p:nvSpPr>
        <p:spPr>
          <a:xfrm>
            <a:off x="457200" y="1691640"/>
            <a:ext cx="2468880" cy="18288"/>
          </a:xfrm>
          <a:prstGeom prst="rect">
            <a:avLst/>
          </a:prstGeom>
          <a:solidFill>
            <a:srgbClr val="00E676"/>
          </a:solidFill>
          <a:ln/>
        </p:spPr>
      </p:sp>
      <p:sp>
        <p:nvSpPr>
          <p:cNvPr id="9" name="Text 6"/>
          <p:cNvSpPr/>
          <p:nvPr/>
        </p:nvSpPr>
        <p:spPr>
          <a:xfrm>
            <a:off x="457200" y="1828800"/>
            <a:ext cx="2468880" cy="1463040"/>
          </a:xfrm>
          <a:prstGeom prst="rect">
            <a:avLst/>
          </a:prstGeom>
          <a:noFill/>
          <a:ln/>
        </p:spPr>
        <p:txBody>
          <a:bodyPr wrap="square" rtlCol="0" anchor="t"/>
          <a:lstStyle/>
          <a:p>
            <a:pPr indent="0" marL="0">
              <a:buNone/>
            </a:pPr>
            <a:r>
              <a:rPr lang="en-US" sz="1050" dirty="0">
                <a:solidFill>
                  <a:srgbClr val="CCD6F6"/>
                </a:solidFill>
                <a:latin typeface="Calibri" pitchFamily="34" charset="0"/>
                <a:ea typeface="Calibri" pitchFamily="34" charset="-122"/>
                <a:cs typeface="Calibri" pitchFamily="34" charset="-120"/>
              </a:rPr>
              <a:t>Each robot atomically claims its target cell using Compare-And-Swap. Only one robot can occupy a cell — others retry next step. Completely lock-free, no mutex overhead.</a:t>
            </a:r>
            <a:endParaRPr lang="en-US" sz="1050" dirty="0"/>
          </a:p>
        </p:txBody>
      </p:sp>
      <p:sp>
        <p:nvSpPr>
          <p:cNvPr id="10" name="Shape 7"/>
          <p:cNvSpPr/>
          <p:nvPr/>
        </p:nvSpPr>
        <p:spPr>
          <a:xfrm>
            <a:off x="3246120" y="1005840"/>
            <a:ext cx="2743200" cy="246888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11" name="Image 1" descr="preencoded.png">    </p:cNvPr>
          <p:cNvPicPr>
            <a:picLocks noChangeAspect="1"/>
          </p:cNvPicPr>
          <p:nvPr/>
        </p:nvPicPr>
        <p:blipFill>
          <a:blip r:embed="rId2"/>
          <a:stretch>
            <a:fillRect/>
          </a:stretch>
        </p:blipFill>
        <p:spPr>
          <a:xfrm>
            <a:off x="3429000" y="1188720"/>
            <a:ext cx="365760" cy="365760"/>
          </a:xfrm>
          <a:prstGeom prst="rect">
            <a:avLst/>
          </a:prstGeom>
        </p:spPr>
      </p:pic>
      <p:sp>
        <p:nvSpPr>
          <p:cNvPr id="12" name="Text 8"/>
          <p:cNvSpPr/>
          <p:nvPr/>
        </p:nvSpPr>
        <p:spPr>
          <a:xfrm>
            <a:off x="3886200" y="1234440"/>
            <a:ext cx="1920240" cy="320040"/>
          </a:xfrm>
          <a:prstGeom prst="rect">
            <a:avLst/>
          </a:prstGeom>
          <a:noFill/>
          <a:ln/>
        </p:spPr>
        <p:txBody>
          <a:bodyPr wrap="square" rtlCol="0" anchor="ctr"/>
          <a:lstStyle/>
          <a:p>
            <a:pPr indent="0" marL="0">
              <a:buNone/>
            </a:pPr>
            <a:r>
              <a:rPr lang="en-US" sz="1400" b="1" dirty="0">
                <a:solidFill>
                  <a:srgbClr val="FF9100"/>
                </a:solidFill>
                <a:latin typeface="Calibri" pitchFamily="34" charset="0"/>
                <a:ea typeface="Calibri" pitchFamily="34" charset="-122"/>
                <a:cs typeface="Calibri" pitchFamily="34" charset="-120"/>
              </a:rPr>
              <a:t>Occupancy Penalty (-100)</a:t>
            </a:r>
            <a:endParaRPr lang="en-US" sz="1400" dirty="0"/>
          </a:p>
        </p:txBody>
      </p:sp>
      <p:sp>
        <p:nvSpPr>
          <p:cNvPr id="13" name="Shape 9"/>
          <p:cNvSpPr/>
          <p:nvPr/>
        </p:nvSpPr>
        <p:spPr>
          <a:xfrm>
            <a:off x="3383280" y="1691640"/>
            <a:ext cx="2468880" cy="18288"/>
          </a:xfrm>
          <a:prstGeom prst="rect">
            <a:avLst/>
          </a:prstGeom>
          <a:solidFill>
            <a:srgbClr val="FF9100"/>
          </a:solidFill>
          <a:ln/>
        </p:spPr>
      </p:sp>
      <p:sp>
        <p:nvSpPr>
          <p:cNvPr id="14" name="Text 10"/>
          <p:cNvSpPr/>
          <p:nvPr/>
        </p:nvSpPr>
        <p:spPr>
          <a:xfrm>
            <a:off x="3383280" y="1828800"/>
            <a:ext cx="2468880" cy="1463040"/>
          </a:xfrm>
          <a:prstGeom prst="rect">
            <a:avLst/>
          </a:prstGeom>
          <a:noFill/>
          <a:ln/>
        </p:spPr>
        <p:txBody>
          <a:bodyPr wrap="square" rtlCol="0" anchor="t"/>
          <a:lstStyle/>
          <a:p>
            <a:pPr indent="0" marL="0">
              <a:buNone/>
            </a:pPr>
            <a:r>
              <a:rPr lang="en-US" sz="1050" dirty="0">
                <a:solidFill>
                  <a:srgbClr val="CCD6F6"/>
                </a:solidFill>
                <a:latin typeface="Calibri" pitchFamily="34" charset="0"/>
                <a:ea typeface="Calibri" pitchFamily="34" charset="-122"/>
                <a:cs typeface="Calibri" pitchFamily="34" charset="-120"/>
              </a:rPr>
              <a:t>Cells occupied by other robots have their value reduced by 100 in the Q-value computation. This causes the value function to implicitly route agents around congestion zones.</a:t>
            </a:r>
            <a:endParaRPr lang="en-US" sz="1050" dirty="0"/>
          </a:p>
        </p:txBody>
      </p:sp>
      <p:sp>
        <p:nvSpPr>
          <p:cNvPr id="15" name="Shape 11"/>
          <p:cNvSpPr/>
          <p:nvPr/>
        </p:nvSpPr>
        <p:spPr>
          <a:xfrm>
            <a:off x="6172200" y="1005840"/>
            <a:ext cx="2743200" cy="246888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16" name="Image 2" descr="preencoded.png">    </p:cNvPr>
          <p:cNvPicPr>
            <a:picLocks noChangeAspect="1"/>
          </p:cNvPicPr>
          <p:nvPr/>
        </p:nvPicPr>
        <p:blipFill>
          <a:blip r:embed="rId3"/>
          <a:stretch>
            <a:fillRect/>
          </a:stretch>
        </p:blipFill>
        <p:spPr>
          <a:xfrm>
            <a:off x="6355080" y="1188720"/>
            <a:ext cx="365760" cy="365760"/>
          </a:xfrm>
          <a:prstGeom prst="rect">
            <a:avLst/>
          </a:prstGeom>
        </p:spPr>
      </p:pic>
      <p:sp>
        <p:nvSpPr>
          <p:cNvPr id="17" name="Text 12"/>
          <p:cNvSpPr/>
          <p:nvPr/>
        </p:nvSpPr>
        <p:spPr>
          <a:xfrm>
            <a:off x="6812280" y="1234440"/>
            <a:ext cx="1920240" cy="320040"/>
          </a:xfrm>
          <a:prstGeom prst="rect">
            <a:avLst/>
          </a:prstGeom>
          <a:noFill/>
          <a:ln/>
        </p:spPr>
        <p:txBody>
          <a:bodyPr wrap="square"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Random Tie-Breaking</a:t>
            </a:r>
            <a:endParaRPr lang="en-US" sz="1400" dirty="0"/>
          </a:p>
        </p:txBody>
      </p:sp>
      <p:sp>
        <p:nvSpPr>
          <p:cNvPr id="18" name="Shape 13"/>
          <p:cNvSpPr/>
          <p:nvPr/>
        </p:nvSpPr>
        <p:spPr>
          <a:xfrm>
            <a:off x="6309360" y="1691640"/>
            <a:ext cx="2468880" cy="18288"/>
          </a:xfrm>
          <a:prstGeom prst="rect">
            <a:avLst/>
          </a:prstGeom>
          <a:solidFill>
            <a:srgbClr val="00D4FF"/>
          </a:solidFill>
          <a:ln/>
        </p:spPr>
      </p:sp>
      <p:sp>
        <p:nvSpPr>
          <p:cNvPr id="19" name="Text 14"/>
          <p:cNvSpPr/>
          <p:nvPr/>
        </p:nvSpPr>
        <p:spPr>
          <a:xfrm>
            <a:off x="6309360" y="1828800"/>
            <a:ext cx="2468880" cy="1463040"/>
          </a:xfrm>
          <a:prstGeom prst="rect">
            <a:avLst/>
          </a:prstGeom>
          <a:noFill/>
          <a:ln/>
        </p:spPr>
        <p:txBody>
          <a:bodyPr wrap="square" rtlCol="0" anchor="t"/>
          <a:lstStyle/>
          <a:p>
            <a:pPr indent="0" marL="0">
              <a:buNone/>
            </a:pPr>
            <a:r>
              <a:rPr lang="en-US" sz="1050" dirty="0">
                <a:solidFill>
                  <a:srgbClr val="CCD6F6"/>
                </a:solidFill>
                <a:latin typeface="Calibri" pitchFamily="34" charset="0"/>
                <a:ea typeface="Calibri" pitchFamily="34" charset="-122"/>
                <a:cs typeface="Calibri" pitchFamily="34" charset="-120"/>
              </a:rPr>
              <a:t>Small random noise (~10⁻⁵) added to each action's Q-value prevents symmetric deadlocks where multiple robots choose identical paths simultaneously.</a:t>
            </a:r>
            <a:endParaRPr lang="en-US" sz="1050" dirty="0"/>
          </a:p>
        </p:txBody>
      </p:sp>
      <p:sp>
        <p:nvSpPr>
          <p:cNvPr id="20" name="Shape 15"/>
          <p:cNvSpPr/>
          <p:nvPr/>
        </p:nvSpPr>
        <p:spPr>
          <a:xfrm>
            <a:off x="365760" y="3657600"/>
            <a:ext cx="8412480" cy="1325880"/>
          </a:xfrm>
          <a:prstGeom prst="rect">
            <a:avLst/>
          </a:prstGeom>
          <a:solidFill>
            <a:srgbClr val="0A1030"/>
          </a:solidFill>
          <a:ln/>
        </p:spPr>
      </p:sp>
      <p:sp>
        <p:nvSpPr>
          <p:cNvPr id="21" name="Text 16"/>
          <p:cNvSpPr/>
          <p:nvPr/>
        </p:nvSpPr>
        <p:spPr>
          <a:xfrm>
            <a:off x="548640" y="3749040"/>
            <a:ext cx="8046720" cy="1188720"/>
          </a:xfrm>
          <a:prstGeom prst="rect">
            <a:avLst/>
          </a:prstGeom>
          <a:noFill/>
          <a:ln/>
        </p:spPr>
        <p:txBody>
          <a:bodyPr wrap="square" rtlCol="0" anchor="t"/>
          <a:lstStyle/>
          <a:p>
            <a:pPr indent="0" marL="0">
              <a:buNone/>
            </a:pPr>
            <a:r>
              <a:rPr lang="en-US" sz="900" dirty="0">
                <a:solidFill>
                  <a:srgbClr val="8892B0"/>
                </a:solidFill>
              </a:rPr>
              <a:t>// CUDA kernel: collision avoidance logic</a:t>
            </a:r>
            <a:endParaRPr lang="en-US" sz="900" dirty="0"/>
          </a:p>
          <a:p>
            <a:pPr indent="0" marL="0">
              <a:buNone/>
            </a:pPr>
            <a:r>
              <a:rPr lang="en-US" sz="1100" dirty="0">
                <a:solidFill>
                  <a:srgbClr val="CCD6F6"/>
                </a:solidFill>
                <a:latin typeface="Consolas" pitchFamily="34" charset="0"/>
                <a:ea typeface="Consolas" pitchFamily="34" charset="-122"/>
                <a:cs typeface="Consolas" pitchFamily="34" charset="-120"/>
              </a:rPr>
              <a:t>if (grid_occupancy[cell_idx] != -1 &amp;&amp; grid_occupancy[cell_idx] != r.id) {</a:t>
            </a:r>
            <a:endParaRPr lang="en-US" sz="900" dirty="0"/>
          </a:p>
          <a:p>
            <a:pPr indent="0" marL="0">
              <a:buNone/>
            </a:pPr>
            <a:r>
              <a:rPr lang="en-US" sz="1100" dirty="0">
                <a:solidFill>
                  <a:srgbClr val="FF9100"/>
                </a:solidFill>
                <a:latin typeface="Consolas" pitchFamily="34" charset="0"/>
                <a:ea typeface="Consolas" pitchFamily="34" charset="-122"/>
                <a:cs typeface="Consolas" pitchFamily="34" charset="-120"/>
              </a:rPr>
              <a:t>    val -= 100.0f;  // Heavy penalty for occupied cells</a:t>
            </a:r>
            <a:endParaRPr lang="en-US" sz="900" dirty="0"/>
          </a:p>
          <a:p>
            <a:pPr indent="0" marL="0">
              <a:buNone/>
            </a:pPr>
            <a:r>
              <a:rPr lang="en-US" sz="1100" dirty="0">
                <a:solidFill>
                  <a:srgbClr val="CCD6F6"/>
                </a:solidFill>
                <a:latin typeface="Consolas" pitchFamily="34" charset="0"/>
                <a:ea typeface="Consolas" pitchFamily="34" charset="-122"/>
                <a:cs typeface="Consolas" pitchFamily="34" charset="-120"/>
              </a:rPr>
              <a:t>}</a:t>
            </a:r>
            <a:endParaRPr lang="en-US" sz="900" dirty="0"/>
          </a:p>
          <a:p>
            <a:pPr indent="0" marL="0">
              <a:buNone/>
            </a:pPr>
            <a:r>
              <a:rPr lang="en-US" sz="1100" dirty="0">
                <a:solidFill>
                  <a:srgbClr val="00D4FF"/>
                </a:solidFill>
                <a:latin typeface="Consolas" pitchFamily="34" charset="0"/>
                <a:ea typeface="Consolas" pitchFamily="34" charset="-122"/>
                <a:cs typeface="Consolas" pitchFamily="34" charset="-120"/>
              </a:rPr>
              <a:t>val += (lcg(temp_state) % 1000) / 100000.0f;  // Random tie-break</a:t>
            </a:r>
            <a:endParaRPr lang="en-US" sz="900" dirty="0"/>
          </a:p>
          <a:p>
            <a:pPr indent="0" marL="0">
              <a:buNone/>
            </a:pPr>
            <a:r>
              <a:rPr lang="en-US" sz="1100" dirty="0">
                <a:solidFill>
                  <a:srgbClr val="00E676"/>
                </a:solidFill>
                <a:latin typeface="Consolas" pitchFamily="34" charset="0"/>
                <a:ea typeface="Consolas" pitchFamily="34" charset="-122"/>
                <a:cs typeface="Consolas" pitchFamily="34" charset="-120"/>
              </a:rPr>
              <a:t>if (atomicCAS(&amp;grid_occupancy[cell_idx], -1, r.id) == -1) { move();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5C518"/>
          </a:solidFill>
          <a:ln/>
        </p:spPr>
      </p:sp>
      <p:sp>
        <p:nvSpPr>
          <p:cNvPr id="3" name="Text 1"/>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6 / 10</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CPU Baseline: BFS-Based Pathfinding</a:t>
            </a:r>
            <a:endParaRPr lang="en-US" sz="2600" dirty="0"/>
          </a:p>
        </p:txBody>
      </p:sp>
      <p:sp>
        <p:nvSpPr>
          <p:cNvPr id="5" name="Shape 3"/>
          <p:cNvSpPr/>
          <p:nvPr/>
        </p:nvSpPr>
        <p:spPr>
          <a:xfrm>
            <a:off x="365760" y="1005840"/>
            <a:ext cx="4114800" cy="310896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6" name="Image 0" descr="preencoded.png">    </p:cNvPr>
          <p:cNvPicPr>
            <a:picLocks noChangeAspect="1"/>
          </p:cNvPicPr>
          <p:nvPr/>
        </p:nvPicPr>
        <p:blipFill>
          <a:blip r:embed="rId1"/>
          <a:stretch>
            <a:fillRect/>
          </a:stretch>
        </p:blipFill>
        <p:spPr>
          <a:xfrm>
            <a:off x="594360" y="1188720"/>
            <a:ext cx="365760" cy="365760"/>
          </a:xfrm>
          <a:prstGeom prst="rect">
            <a:avLst/>
          </a:prstGeom>
        </p:spPr>
      </p:pic>
      <p:sp>
        <p:nvSpPr>
          <p:cNvPr id="7" name="Text 4"/>
          <p:cNvSpPr/>
          <p:nvPr/>
        </p:nvSpPr>
        <p:spPr>
          <a:xfrm>
            <a:off x="1051560" y="1234440"/>
            <a:ext cx="3200400" cy="320040"/>
          </a:xfrm>
          <a:prstGeom prst="rect">
            <a:avLst/>
          </a:prstGeom>
          <a:noFill/>
          <a:ln/>
        </p:spPr>
        <p:txBody>
          <a:bodyPr wrap="square" rtlCol="0" anchor="ctr"/>
          <a:lstStyle/>
          <a:p>
            <a:pPr indent="0" marL="0">
              <a:buNone/>
            </a:pPr>
            <a:r>
              <a:rPr lang="en-US" sz="1400" b="1" dirty="0">
                <a:solidFill>
                  <a:srgbClr val="FF5252"/>
                </a:solidFill>
                <a:latin typeface="Calibri" pitchFamily="34" charset="0"/>
                <a:ea typeface="Calibri" pitchFamily="34" charset="-122"/>
                <a:cs typeface="Calibri" pitchFamily="34" charset="-120"/>
              </a:rPr>
              <a:t>CPU Serial (1 Thread) BFS</a:t>
            </a:r>
            <a:endParaRPr lang="en-US" sz="1400" dirty="0"/>
          </a:p>
        </p:txBody>
      </p:sp>
      <p:sp>
        <p:nvSpPr>
          <p:cNvPr id="8" name="Text 5"/>
          <p:cNvSpPr/>
          <p:nvPr/>
        </p:nvSpPr>
        <p:spPr>
          <a:xfrm>
            <a:off x="594360" y="1691640"/>
            <a:ext cx="3657600" cy="2194560"/>
          </a:xfrm>
          <a:prstGeom prst="rect">
            <a:avLst/>
          </a:prstGeom>
          <a:noFill/>
          <a:ln/>
        </p:spPr>
        <p:txBody>
          <a:bodyPr wrap="square" rtlCol="0" anchor="t"/>
          <a:lstStyle/>
          <a:p>
            <a:pPr indent="0" marL="0">
              <a:buNone/>
            </a:pPr>
            <a:r>
              <a:rPr lang="en-US" sz="1100" dirty="0">
                <a:solidFill>
                  <a:srgbClr val="CCD6F6"/>
                </a:solidFill>
              </a:rPr>
              <a:t>Algorithm: Online BFS per robot, per step</a:t>
            </a:r>
            <a:endParaRPr lang="en-US" sz="1100" dirty="0"/>
          </a:p>
          <a:p>
            <a:pPr indent="0" marL="0">
              <a:buNone/>
            </a:pPr>
            <a:endParaRPr lang="en-US" sz="1100" dirty="0"/>
          </a:p>
          <a:p>
            <a:pPr indent="0" marL="0">
              <a:buNone/>
            </a:pPr>
            <a:r>
              <a:rPr lang="en-US" sz="1100" dirty="0">
                <a:solidFill>
                  <a:srgbClr val="CCD6F6"/>
                </a:solidFill>
                <a:latin typeface="Consolas" pitchFamily="34" charset="0"/>
                <a:ea typeface="Consolas" pitchFamily="34" charset="-122"/>
                <a:cs typeface="Consolas" pitchFamily="34" charset="-120"/>
              </a:rPr>
              <a:t>1. Shuffle robot order randomly each step</a:t>
            </a:r>
            <a:endParaRPr lang="en-US" sz="1100" dirty="0"/>
          </a:p>
          <a:p>
            <a:pPr indent="0" marL="0">
              <a:buNone/>
            </a:pPr>
            <a:r>
              <a:rPr lang="en-US" sz="1100" dirty="0">
                <a:solidFill>
                  <a:srgbClr val="CCD6F6"/>
                </a:solidFill>
                <a:latin typeface="Consolas" pitchFamily="34" charset="0"/>
                <a:ea typeface="Consolas" pitchFamily="34" charset="-122"/>
                <a:cs typeface="Consolas" pitchFamily="34" charset="-120"/>
              </a:rPr>
              <a:t>2. For each robot, build blocked set from:</a:t>
            </a:r>
            <a:endParaRPr lang="en-US" sz="1100" dirty="0"/>
          </a:p>
          <a:p>
            <a:pPr indent="0" marL="0">
              <a:buNone/>
            </a:pPr>
            <a:r>
              <a:rPr lang="en-US" sz="1000" dirty="0">
                <a:solidFill>
                  <a:srgbClr val="8892B0"/>
                </a:solidFill>
                <a:latin typeface="Consolas" pitchFamily="34" charset="0"/>
                <a:ea typeface="Consolas" pitchFamily="34" charset="-122"/>
                <a:cs typeface="Consolas" pitchFamily="34" charset="-120"/>
              </a:rPr>
              <a:t>   - Static obstacles (shelf columns)</a:t>
            </a:r>
            <a:endParaRPr lang="en-US" sz="1100" dirty="0"/>
          </a:p>
          <a:p>
            <a:pPr indent="0" marL="0">
              <a:buNone/>
            </a:pPr>
            <a:r>
              <a:rPr lang="en-US" sz="1000" dirty="0">
                <a:solidFill>
                  <a:srgbClr val="8892B0"/>
                </a:solidFill>
                <a:latin typeface="Consolas" pitchFamily="34" charset="0"/>
                <a:ea typeface="Consolas" pitchFamily="34" charset="-122"/>
                <a:cs typeface="Consolas" pitchFamily="34" charset="-120"/>
              </a:rPr>
              <a:t>   - All other robots' current positions</a:t>
            </a:r>
            <a:endParaRPr lang="en-US" sz="1100" dirty="0"/>
          </a:p>
          <a:p>
            <a:pPr indent="0" marL="0">
              <a:buNone/>
            </a:pPr>
            <a:r>
              <a:rPr lang="en-US" sz="1100" dirty="0">
                <a:solidFill>
                  <a:srgbClr val="CCD6F6"/>
                </a:solidFill>
                <a:latin typeface="Consolas" pitchFamily="34" charset="0"/>
                <a:ea typeface="Consolas" pitchFamily="34" charset="-122"/>
                <a:cs typeface="Consolas" pitchFamily="34" charset="-120"/>
              </a:rPr>
              <a:t>3. BFS shortest path to goal avoiding blocked cells</a:t>
            </a:r>
            <a:endParaRPr lang="en-US" sz="1100" dirty="0"/>
          </a:p>
          <a:p>
            <a:pPr indent="0" marL="0">
              <a:buNone/>
            </a:pPr>
            <a:r>
              <a:rPr lang="en-US" sz="1100" dirty="0">
                <a:solidFill>
                  <a:srgbClr val="CCD6F6"/>
                </a:solidFill>
                <a:latin typeface="Consolas" pitchFamily="34" charset="0"/>
                <a:ea typeface="Consolas" pitchFamily="34" charset="-122"/>
                <a:cs typeface="Consolas" pitchFamily="34" charset="-120"/>
              </a:rPr>
              <a:t>4. Claim first step of path via reservation system</a:t>
            </a:r>
            <a:endParaRPr lang="en-US" sz="1100" dirty="0"/>
          </a:p>
          <a:p>
            <a:pPr indent="0" marL="0">
              <a:buNone/>
            </a:pPr>
            <a:r>
              <a:rPr lang="en-US" sz="1100" dirty="0">
                <a:solidFill>
                  <a:srgbClr val="CCD6F6"/>
                </a:solidFill>
                <a:latin typeface="Consolas" pitchFamily="34" charset="0"/>
                <a:ea typeface="Consolas" pitchFamily="34" charset="-122"/>
                <a:cs typeface="Consolas" pitchFamily="34" charset="-120"/>
              </a:rPr>
              <a:t>5. If blocked, replan from scratch next step</a:t>
            </a:r>
            <a:endParaRPr lang="en-US" sz="1100" dirty="0"/>
          </a:p>
        </p:txBody>
      </p:sp>
      <p:sp>
        <p:nvSpPr>
          <p:cNvPr id="9" name="Shape 6"/>
          <p:cNvSpPr/>
          <p:nvPr/>
        </p:nvSpPr>
        <p:spPr>
          <a:xfrm>
            <a:off x="4754880" y="1005840"/>
            <a:ext cx="4023360" cy="164592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10" name="Text 7"/>
          <p:cNvSpPr/>
          <p:nvPr/>
        </p:nvSpPr>
        <p:spPr>
          <a:xfrm>
            <a:off x="4983480" y="1097280"/>
            <a:ext cx="1828800" cy="320040"/>
          </a:xfrm>
          <a:prstGeom prst="rect">
            <a:avLst/>
          </a:prstGeom>
          <a:noFill/>
          <a:ln/>
        </p:spPr>
        <p:txBody>
          <a:bodyPr wrap="square" rtlCol="0" anchor="ctr"/>
          <a:lstStyle/>
          <a:p>
            <a:pPr indent="0" marL="0">
              <a:buNone/>
            </a:pPr>
            <a:r>
              <a:rPr lang="en-US" sz="1400" b="1" dirty="0">
                <a:solidFill>
                  <a:srgbClr val="F5C518"/>
                </a:solidFill>
                <a:latin typeface="Calibri" pitchFamily="34" charset="0"/>
                <a:ea typeface="Calibri" pitchFamily="34" charset="-122"/>
                <a:cs typeface="Calibri" pitchFamily="34" charset="-120"/>
              </a:rPr>
              <a:t>Results</a:t>
            </a:r>
            <a:endParaRPr lang="en-US" sz="1400" dirty="0"/>
          </a:p>
        </p:txBody>
      </p:sp>
      <p:sp>
        <p:nvSpPr>
          <p:cNvPr id="11" name="Text 8"/>
          <p:cNvSpPr/>
          <p:nvPr/>
        </p:nvSpPr>
        <p:spPr>
          <a:xfrm>
            <a:off x="4983480" y="1463040"/>
            <a:ext cx="1371600" cy="2286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16.1 ms</a:t>
            </a:r>
            <a:endParaRPr lang="en-US" sz="1300" dirty="0"/>
          </a:p>
        </p:txBody>
      </p:sp>
      <p:sp>
        <p:nvSpPr>
          <p:cNvPr id="12" name="Text 9"/>
          <p:cNvSpPr/>
          <p:nvPr/>
        </p:nvSpPr>
        <p:spPr>
          <a:xfrm>
            <a:off x="6400800" y="1463040"/>
            <a:ext cx="2194560" cy="22860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Total Wall Time</a:t>
            </a:r>
            <a:endParaRPr lang="en-US" sz="1000" dirty="0"/>
          </a:p>
        </p:txBody>
      </p:sp>
      <p:sp>
        <p:nvSpPr>
          <p:cNvPr id="13" name="Text 10"/>
          <p:cNvSpPr/>
          <p:nvPr/>
        </p:nvSpPr>
        <p:spPr>
          <a:xfrm>
            <a:off x="4983480" y="1755648"/>
            <a:ext cx="1371600" cy="2286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30/30</a:t>
            </a:r>
            <a:endParaRPr lang="en-US" sz="1300" dirty="0"/>
          </a:p>
        </p:txBody>
      </p:sp>
      <p:sp>
        <p:nvSpPr>
          <p:cNvPr id="14" name="Text 11"/>
          <p:cNvSpPr/>
          <p:nvPr/>
        </p:nvSpPr>
        <p:spPr>
          <a:xfrm>
            <a:off x="6400800" y="1755648"/>
            <a:ext cx="2194560" cy="22860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Deliveries Completed</a:t>
            </a:r>
            <a:endParaRPr lang="en-US" sz="1000" dirty="0"/>
          </a:p>
        </p:txBody>
      </p:sp>
      <p:sp>
        <p:nvSpPr>
          <p:cNvPr id="15" name="Text 12"/>
          <p:cNvSpPr/>
          <p:nvPr/>
        </p:nvSpPr>
        <p:spPr>
          <a:xfrm>
            <a:off x="4983480" y="2048256"/>
            <a:ext cx="1371600" cy="2286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44 steps</a:t>
            </a:r>
            <a:endParaRPr lang="en-US" sz="1300" dirty="0"/>
          </a:p>
        </p:txBody>
      </p:sp>
      <p:sp>
        <p:nvSpPr>
          <p:cNvPr id="16" name="Text 13"/>
          <p:cNvSpPr/>
          <p:nvPr/>
        </p:nvSpPr>
        <p:spPr>
          <a:xfrm>
            <a:off x="6400800" y="2048256"/>
            <a:ext cx="2194560" cy="22860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To Finish All Robots</a:t>
            </a:r>
            <a:endParaRPr lang="en-US" sz="1000" dirty="0"/>
          </a:p>
        </p:txBody>
      </p:sp>
      <p:sp>
        <p:nvSpPr>
          <p:cNvPr id="17" name="Text 14"/>
          <p:cNvSpPr/>
          <p:nvPr/>
        </p:nvSpPr>
        <p:spPr>
          <a:xfrm>
            <a:off x="4983480" y="2340864"/>
            <a:ext cx="1371600" cy="22860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1.47</a:t>
            </a:r>
            <a:endParaRPr lang="en-US" sz="1300" dirty="0"/>
          </a:p>
        </p:txBody>
      </p:sp>
      <p:sp>
        <p:nvSpPr>
          <p:cNvPr id="18" name="Text 15"/>
          <p:cNvSpPr/>
          <p:nvPr/>
        </p:nvSpPr>
        <p:spPr>
          <a:xfrm>
            <a:off x="6400800" y="2340864"/>
            <a:ext cx="2194560" cy="228600"/>
          </a:xfrm>
          <a:prstGeom prst="rect">
            <a:avLst/>
          </a:prstGeom>
          <a:noFill/>
          <a:ln/>
        </p:spPr>
        <p:txBody>
          <a:bodyPr wrap="square" rtlCol="0" anchor="ctr"/>
          <a:lstStyle/>
          <a:p>
            <a:pPr indent="0" marL="0">
              <a:buNone/>
            </a:pPr>
            <a:r>
              <a:rPr lang="en-US" sz="1000" dirty="0">
                <a:solidFill>
                  <a:srgbClr val="CCD6F6"/>
                </a:solidFill>
                <a:latin typeface="Calibri" pitchFamily="34" charset="0"/>
                <a:ea typeface="Calibri" pitchFamily="34" charset="-122"/>
                <a:cs typeface="Calibri" pitchFamily="34" charset="-120"/>
              </a:rPr>
              <a:t>Avg Steps per Delivery</a:t>
            </a:r>
            <a:endParaRPr lang="en-US" sz="1000" dirty="0"/>
          </a:p>
        </p:txBody>
      </p:sp>
      <p:sp>
        <p:nvSpPr>
          <p:cNvPr id="19" name="Shape 16"/>
          <p:cNvSpPr/>
          <p:nvPr/>
        </p:nvSpPr>
        <p:spPr>
          <a:xfrm>
            <a:off x="4754880" y="2834640"/>
            <a:ext cx="4023360" cy="128016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20" name="Text 17"/>
          <p:cNvSpPr/>
          <p:nvPr/>
        </p:nvSpPr>
        <p:spPr>
          <a:xfrm>
            <a:off x="4983480" y="2926080"/>
            <a:ext cx="3200400" cy="274320"/>
          </a:xfrm>
          <a:prstGeom prst="rect">
            <a:avLst/>
          </a:prstGeom>
          <a:noFill/>
          <a:ln/>
        </p:spPr>
        <p:txBody>
          <a:bodyPr wrap="square" rtlCol="0" anchor="ctr"/>
          <a:lstStyle/>
          <a:p>
            <a:pPr indent="0" marL="0">
              <a:buNone/>
            </a:pPr>
            <a:r>
              <a:rPr lang="en-US" sz="1300" b="1" dirty="0">
                <a:solidFill>
                  <a:srgbClr val="FF9100"/>
                </a:solidFill>
                <a:latin typeface="Calibri" pitchFamily="34" charset="0"/>
                <a:ea typeface="Calibri" pitchFamily="34" charset="-122"/>
                <a:cs typeface="Calibri" pitchFamily="34" charset="-120"/>
              </a:rPr>
              <a:t>OpenMP Multi-Threading</a:t>
            </a:r>
            <a:endParaRPr lang="en-US" sz="1300" dirty="0"/>
          </a:p>
        </p:txBody>
      </p:sp>
      <p:sp>
        <p:nvSpPr>
          <p:cNvPr id="21" name="Text 18"/>
          <p:cNvSpPr/>
          <p:nvPr/>
        </p:nvSpPr>
        <p:spPr>
          <a:xfrm>
            <a:off x="4983480" y="3246120"/>
            <a:ext cx="3566160" cy="777240"/>
          </a:xfrm>
          <a:prstGeom prst="rect">
            <a:avLst/>
          </a:prstGeom>
          <a:noFill/>
          <a:ln/>
        </p:spPr>
        <p:txBody>
          <a:bodyPr wrap="square" rtlCol="0" anchor="t"/>
          <a:lstStyle/>
          <a:p>
            <a:pPr indent="0" marL="0">
              <a:buNone/>
            </a:pPr>
            <a:r>
              <a:rPr lang="en-US" sz="1050" dirty="0">
                <a:solidFill>
                  <a:srgbClr val="CCD6F6"/>
                </a:solidFill>
                <a:latin typeface="Calibri" pitchFamily="34" charset="0"/>
                <a:ea typeface="Calibri" pitchFamily="34" charset="-122"/>
                <a:cs typeface="Calibri" pitchFamily="34" charset="-120"/>
              </a:rPr>
              <a:t>The baseline supports OpenMP parallelization via omp_set_num_threads(). On multi-core CPUs, robot processing can be distributed across threads for additional speedup beyond the serial baseline.</a:t>
            </a:r>
            <a:endParaRPr lang="en-US" sz="1050" dirty="0"/>
          </a:p>
        </p:txBody>
      </p:sp>
      <p:sp>
        <p:nvSpPr>
          <p:cNvPr id="22" name="Shape 19"/>
          <p:cNvSpPr/>
          <p:nvPr/>
        </p:nvSpPr>
        <p:spPr>
          <a:xfrm>
            <a:off x="365760" y="4297680"/>
            <a:ext cx="8412480" cy="50292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23" name="Text 20"/>
          <p:cNvSpPr/>
          <p:nvPr/>
        </p:nvSpPr>
        <p:spPr>
          <a:xfrm>
            <a:off x="548640" y="4343400"/>
            <a:ext cx="8046720" cy="365760"/>
          </a:xfrm>
          <a:prstGeom prst="rect">
            <a:avLst/>
          </a:prstGeom>
          <a:noFill/>
          <a:ln/>
        </p:spPr>
        <p:txBody>
          <a:bodyPr wrap="square" rtlCol="0" anchor="ctr"/>
          <a:lstStyle/>
          <a:p>
            <a:pPr indent="0" marL="0">
              <a:buNone/>
            </a:pPr>
            <a:r>
              <a:rPr lang="en-US" sz="1100" b="1" dirty="0">
                <a:solidFill>
                  <a:srgbClr val="F5C518"/>
                </a:solidFill>
                <a:latin typeface="Calibri" pitchFamily="34" charset="0"/>
                <a:ea typeface="Calibri" pitchFamily="34" charset="-122"/>
                <a:cs typeface="Calibri" pitchFamily="34" charset="-120"/>
              </a:rPr>
              <a:t>Key Insight: </a:t>
            </a:r>
            <a:pPr indent="0" marL="0">
              <a:buNone/>
            </a:pPr>
            <a:r>
              <a:rPr lang="en-US" sz="1100" dirty="0">
                <a:solidFill>
                  <a:srgbClr val="CCD6F6"/>
                </a:solidFill>
                <a:latin typeface="Calibri" pitchFamily="34" charset="0"/>
                <a:ea typeface="Calibri" pitchFamily="34" charset="-122"/>
                <a:cs typeface="Calibri" pitchFamily="34" charset="-120"/>
              </a:rPr>
              <a:t>CPU BFS is step-efficient (44 steps) but recomputes paths every step. GPU VI amortizes 0.545ms training across all simulation steps, enabling real-time replanning at scale.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5C518"/>
          </a:solidFill>
          <a:ln/>
        </p:spPr>
      </p:sp>
      <p:sp>
        <p:nvSpPr>
          <p:cNvPr id="3" name="Text 1"/>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7 / 10</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Results: Training &amp; Planning Performance</a:t>
            </a:r>
            <a:endParaRPr lang="en-US" sz="2600" dirty="0"/>
          </a:p>
        </p:txBody>
      </p:sp>
      <p:sp>
        <p:nvSpPr>
          <p:cNvPr id="5" name="Shape 3"/>
          <p:cNvSpPr/>
          <p:nvPr/>
        </p:nvSpPr>
        <p:spPr>
          <a:xfrm>
            <a:off x="182880" y="1005840"/>
            <a:ext cx="2057400" cy="150876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6" name="Text 4"/>
          <p:cNvSpPr/>
          <p:nvPr/>
        </p:nvSpPr>
        <p:spPr>
          <a:xfrm>
            <a:off x="274320" y="1097280"/>
            <a:ext cx="1874520" cy="548640"/>
          </a:xfrm>
          <a:prstGeom prst="rect">
            <a:avLst/>
          </a:prstGeom>
          <a:noFill/>
          <a:ln/>
        </p:spPr>
        <p:txBody>
          <a:bodyPr wrap="square" rtlCol="0" anchor="ctr"/>
          <a:lstStyle/>
          <a:p>
            <a:pPr algn="ctr" indent="0" marL="0">
              <a:buNone/>
            </a:pPr>
            <a:r>
              <a:rPr lang="en-US" sz="3200" b="1" dirty="0">
                <a:solidFill>
                  <a:srgbClr val="00E676"/>
                </a:solidFill>
                <a:latin typeface="Georgia" pitchFamily="34" charset="0"/>
                <a:ea typeface="Georgia" pitchFamily="34" charset="-122"/>
                <a:cs typeface="Georgia" pitchFamily="34" charset="-120"/>
              </a:rPr>
              <a:t>0.545</a:t>
            </a:r>
            <a:pPr algn="ctr" indent="0" marL="0">
              <a:buNone/>
            </a:pPr>
            <a:r>
              <a:rPr lang="en-US" sz="1400" dirty="0">
                <a:solidFill>
                  <a:srgbClr val="00E676"/>
                </a:solidFill>
              </a:rPr>
              <a:t> ms</a:t>
            </a:r>
            <a:endParaRPr lang="en-US" sz="3200" dirty="0"/>
          </a:p>
        </p:txBody>
      </p:sp>
      <p:sp>
        <p:nvSpPr>
          <p:cNvPr id="7" name="Text 5"/>
          <p:cNvSpPr/>
          <p:nvPr/>
        </p:nvSpPr>
        <p:spPr>
          <a:xfrm>
            <a:off x="274320" y="1783080"/>
            <a:ext cx="1874520" cy="548640"/>
          </a:xfrm>
          <a:prstGeom prst="rect">
            <a:avLst/>
          </a:prstGeom>
          <a:noFill/>
          <a:ln/>
        </p:spPr>
        <p:txBody>
          <a:bodyPr wrap="square" rtlCol="0" anchor="ctr"/>
          <a:lstStyle/>
          <a:p>
            <a:pPr algn="ctr" indent="0" marL="0">
              <a:buNone/>
            </a:pPr>
            <a:r>
              <a:rPr lang="en-US" sz="1000" dirty="0">
                <a:solidFill>
                  <a:srgbClr val="CCD6F6"/>
                </a:solidFill>
                <a:latin typeface="Calibri" pitchFamily="34" charset="0"/>
                <a:ea typeface="Calibri" pitchFamily="34" charset="-122"/>
                <a:cs typeface="Calibri" pitchFamily="34" charset="-120"/>
              </a:rPr>
              <a:t>GPU Training</a:t>
            </a:r>
            <a:endParaRPr lang="en-US" sz="1000" dirty="0"/>
          </a:p>
          <a:p>
            <a:pPr algn="ctr" indent="0" marL="0">
              <a:buNone/>
            </a:pPr>
            <a:r>
              <a:rPr lang="en-US" sz="1000" dirty="0">
                <a:solidFill>
                  <a:srgbClr val="CCD6F6"/>
                </a:solidFill>
                <a:latin typeface="Calibri" pitchFamily="34" charset="0"/>
                <a:ea typeface="Calibri" pitchFamily="34" charset="-122"/>
                <a:cs typeface="Calibri" pitchFamily="34" charset="-120"/>
              </a:rPr>
              <a:t>(60 VI Iterations)</a:t>
            </a:r>
            <a:endParaRPr lang="en-US" sz="1000" dirty="0"/>
          </a:p>
        </p:txBody>
      </p:sp>
      <p:sp>
        <p:nvSpPr>
          <p:cNvPr id="8" name="Shape 6"/>
          <p:cNvSpPr/>
          <p:nvPr/>
        </p:nvSpPr>
        <p:spPr>
          <a:xfrm>
            <a:off x="2423160" y="1005840"/>
            <a:ext cx="2057400" cy="150876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9" name="Text 7"/>
          <p:cNvSpPr/>
          <p:nvPr/>
        </p:nvSpPr>
        <p:spPr>
          <a:xfrm>
            <a:off x="2514600" y="1097280"/>
            <a:ext cx="1874520" cy="548640"/>
          </a:xfrm>
          <a:prstGeom prst="rect">
            <a:avLst/>
          </a:prstGeom>
          <a:noFill/>
          <a:ln/>
        </p:spPr>
        <p:txBody>
          <a:bodyPr wrap="square" rtlCol="0" anchor="ctr"/>
          <a:lstStyle/>
          <a:p>
            <a:pPr algn="ctr" indent="0" marL="0">
              <a:buNone/>
            </a:pPr>
            <a:r>
              <a:rPr lang="en-US" sz="3200" b="1" dirty="0">
                <a:solidFill>
                  <a:srgbClr val="FF5252"/>
                </a:solidFill>
                <a:latin typeface="Georgia" pitchFamily="34" charset="0"/>
                <a:ea typeface="Georgia" pitchFamily="34" charset="-122"/>
                <a:cs typeface="Georgia" pitchFamily="34" charset="-120"/>
              </a:rPr>
              <a:t>16.1</a:t>
            </a:r>
            <a:pPr algn="ctr" indent="0" marL="0">
              <a:buNone/>
            </a:pPr>
            <a:r>
              <a:rPr lang="en-US" sz="1400" dirty="0">
                <a:solidFill>
                  <a:srgbClr val="FF5252"/>
                </a:solidFill>
              </a:rPr>
              <a:t> ms</a:t>
            </a:r>
            <a:endParaRPr lang="en-US" sz="3200" dirty="0"/>
          </a:p>
        </p:txBody>
      </p:sp>
      <p:sp>
        <p:nvSpPr>
          <p:cNvPr id="10" name="Text 8"/>
          <p:cNvSpPr/>
          <p:nvPr/>
        </p:nvSpPr>
        <p:spPr>
          <a:xfrm>
            <a:off x="2514600" y="1783080"/>
            <a:ext cx="1874520" cy="548640"/>
          </a:xfrm>
          <a:prstGeom prst="rect">
            <a:avLst/>
          </a:prstGeom>
          <a:noFill/>
          <a:ln/>
        </p:spPr>
        <p:txBody>
          <a:bodyPr wrap="square" rtlCol="0" anchor="ctr"/>
          <a:lstStyle/>
          <a:p>
            <a:pPr algn="ctr" indent="0" marL="0">
              <a:buNone/>
            </a:pPr>
            <a:r>
              <a:rPr lang="en-US" sz="1000" dirty="0">
                <a:solidFill>
                  <a:srgbClr val="CCD6F6"/>
                </a:solidFill>
                <a:latin typeface="Calibri" pitchFamily="34" charset="0"/>
                <a:ea typeface="Calibri" pitchFamily="34" charset="-122"/>
                <a:cs typeface="Calibri" pitchFamily="34" charset="-120"/>
              </a:rPr>
              <a:t>CPU BFS Planning</a:t>
            </a:r>
            <a:endParaRPr lang="en-US" sz="1000" dirty="0"/>
          </a:p>
          <a:p>
            <a:pPr algn="ctr" indent="0" marL="0">
              <a:buNone/>
            </a:pPr>
            <a:r>
              <a:rPr lang="en-US" sz="1000" dirty="0">
                <a:solidFill>
                  <a:srgbClr val="CCD6F6"/>
                </a:solidFill>
                <a:latin typeface="Calibri" pitchFamily="34" charset="0"/>
                <a:ea typeface="Calibri" pitchFamily="34" charset="-122"/>
                <a:cs typeface="Calibri" pitchFamily="34" charset="-120"/>
              </a:rPr>
              <a:t>(Total Wall Time)</a:t>
            </a:r>
            <a:endParaRPr lang="en-US" sz="1000" dirty="0"/>
          </a:p>
        </p:txBody>
      </p:sp>
      <p:sp>
        <p:nvSpPr>
          <p:cNvPr id="11" name="Shape 9"/>
          <p:cNvSpPr/>
          <p:nvPr/>
        </p:nvSpPr>
        <p:spPr>
          <a:xfrm>
            <a:off x="4663440" y="1005840"/>
            <a:ext cx="2057400" cy="150876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12" name="Text 10"/>
          <p:cNvSpPr/>
          <p:nvPr/>
        </p:nvSpPr>
        <p:spPr>
          <a:xfrm>
            <a:off x="4754880" y="1097280"/>
            <a:ext cx="1874520" cy="548640"/>
          </a:xfrm>
          <a:prstGeom prst="rect">
            <a:avLst/>
          </a:prstGeom>
          <a:noFill/>
          <a:ln/>
        </p:spPr>
        <p:txBody>
          <a:bodyPr wrap="square" rtlCol="0" anchor="ctr"/>
          <a:lstStyle/>
          <a:p>
            <a:pPr algn="ctr" indent="0" marL="0">
              <a:buNone/>
            </a:pPr>
            <a:r>
              <a:rPr lang="en-US" sz="3200" b="1" dirty="0">
                <a:solidFill>
                  <a:srgbClr val="F5C518"/>
                </a:solidFill>
                <a:latin typeface="Georgia" pitchFamily="34" charset="0"/>
                <a:ea typeface="Georgia" pitchFamily="34" charset="-122"/>
                <a:cs typeface="Georgia" pitchFamily="34" charset="-120"/>
              </a:rPr>
              <a:t>29.6x</a:t>
            </a:r>
            <a:pPr algn="ctr" indent="0" marL="0">
              <a:buNone/>
            </a:pPr>
            <a:endParaRPr lang="en-US" sz="3200" dirty="0"/>
          </a:p>
        </p:txBody>
      </p:sp>
      <p:sp>
        <p:nvSpPr>
          <p:cNvPr id="13" name="Text 11"/>
          <p:cNvSpPr/>
          <p:nvPr/>
        </p:nvSpPr>
        <p:spPr>
          <a:xfrm>
            <a:off x="4754880" y="1783080"/>
            <a:ext cx="1874520" cy="548640"/>
          </a:xfrm>
          <a:prstGeom prst="rect">
            <a:avLst/>
          </a:prstGeom>
          <a:noFill/>
          <a:ln/>
        </p:spPr>
        <p:txBody>
          <a:bodyPr wrap="square" rtlCol="0" anchor="ctr"/>
          <a:lstStyle/>
          <a:p>
            <a:pPr algn="ctr" indent="0" marL="0">
              <a:buNone/>
            </a:pPr>
            <a:r>
              <a:rPr lang="en-US" sz="1000" dirty="0">
                <a:solidFill>
                  <a:srgbClr val="CCD6F6"/>
                </a:solidFill>
                <a:latin typeface="Calibri" pitchFamily="34" charset="0"/>
                <a:ea typeface="Calibri" pitchFamily="34" charset="-122"/>
                <a:cs typeface="Calibri" pitchFamily="34" charset="-120"/>
              </a:rPr>
              <a:t>GPU Speedup</a:t>
            </a:r>
            <a:endParaRPr lang="en-US" sz="1000" dirty="0"/>
          </a:p>
          <a:p>
            <a:pPr algn="ctr" indent="0" marL="0">
              <a:buNone/>
            </a:pPr>
            <a:r>
              <a:rPr lang="en-US" sz="1000" dirty="0">
                <a:solidFill>
                  <a:srgbClr val="CCD6F6"/>
                </a:solidFill>
                <a:latin typeface="Calibri" pitchFamily="34" charset="0"/>
                <a:ea typeface="Calibri" pitchFamily="34" charset="-122"/>
                <a:cs typeface="Calibri" pitchFamily="34" charset="-120"/>
              </a:rPr>
              <a:t>Over CPU Serial</a:t>
            </a:r>
            <a:endParaRPr lang="en-US" sz="1000" dirty="0"/>
          </a:p>
        </p:txBody>
      </p:sp>
      <p:sp>
        <p:nvSpPr>
          <p:cNvPr id="14" name="Shape 12"/>
          <p:cNvSpPr/>
          <p:nvPr/>
        </p:nvSpPr>
        <p:spPr>
          <a:xfrm>
            <a:off x="6903720" y="1005840"/>
            <a:ext cx="2057400" cy="150876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15" name="Text 13"/>
          <p:cNvSpPr/>
          <p:nvPr/>
        </p:nvSpPr>
        <p:spPr>
          <a:xfrm>
            <a:off x="6995160" y="1097280"/>
            <a:ext cx="1874520" cy="548640"/>
          </a:xfrm>
          <a:prstGeom prst="rect">
            <a:avLst/>
          </a:prstGeom>
          <a:noFill/>
          <a:ln/>
        </p:spPr>
        <p:txBody>
          <a:bodyPr wrap="square" rtlCol="0" anchor="ctr"/>
          <a:lstStyle/>
          <a:p>
            <a:pPr algn="ctr" indent="0" marL="0">
              <a:buNone/>
            </a:pPr>
            <a:r>
              <a:rPr lang="en-US" sz="3200" b="1" dirty="0">
                <a:solidFill>
                  <a:srgbClr val="00D4FF"/>
                </a:solidFill>
                <a:latin typeface="Georgia" pitchFamily="34" charset="0"/>
                <a:ea typeface="Georgia" pitchFamily="34" charset="-122"/>
                <a:cs typeface="Georgia" pitchFamily="34" charset="-120"/>
              </a:rPr>
              <a:t>17.6B</a:t>
            </a:r>
            <a:pPr algn="ctr" indent="0" marL="0">
              <a:buNone/>
            </a:pPr>
            <a:endParaRPr lang="en-US" sz="3200" dirty="0"/>
          </a:p>
        </p:txBody>
      </p:sp>
      <p:sp>
        <p:nvSpPr>
          <p:cNvPr id="16" name="Text 14"/>
          <p:cNvSpPr/>
          <p:nvPr/>
        </p:nvSpPr>
        <p:spPr>
          <a:xfrm>
            <a:off x="6995160" y="1783080"/>
            <a:ext cx="1874520" cy="548640"/>
          </a:xfrm>
          <a:prstGeom prst="rect">
            <a:avLst/>
          </a:prstGeom>
          <a:noFill/>
          <a:ln/>
        </p:spPr>
        <p:txBody>
          <a:bodyPr wrap="square" rtlCol="0" anchor="ctr"/>
          <a:lstStyle/>
          <a:p>
            <a:pPr algn="ctr" indent="0" marL="0">
              <a:buNone/>
            </a:pPr>
            <a:r>
              <a:rPr lang="en-US" sz="1000" dirty="0">
                <a:solidFill>
                  <a:srgbClr val="CCD6F6"/>
                </a:solidFill>
                <a:latin typeface="Calibri" pitchFamily="34" charset="0"/>
                <a:ea typeface="Calibri" pitchFamily="34" charset="-122"/>
                <a:cs typeface="Calibri" pitchFamily="34" charset="-120"/>
              </a:rPr>
              <a:t>State Evals/sec</a:t>
            </a:r>
            <a:endParaRPr lang="en-US" sz="1000" dirty="0"/>
          </a:p>
          <a:p>
            <a:pPr algn="ctr" indent="0" marL="0">
              <a:buNone/>
            </a:pPr>
            <a:r>
              <a:rPr lang="en-US" sz="1000" dirty="0">
                <a:solidFill>
                  <a:srgbClr val="CCD6F6"/>
                </a:solidFill>
                <a:latin typeface="Calibri" pitchFamily="34" charset="0"/>
                <a:ea typeface="Calibri" pitchFamily="34" charset="-122"/>
                <a:cs typeface="Calibri" pitchFamily="34" charset="-120"/>
              </a:rPr>
              <a:t>GPU Throughput</a:t>
            </a:r>
            <a:endParaRPr lang="en-US" sz="1000" dirty="0"/>
          </a:p>
        </p:txBody>
      </p:sp>
      <p:pic>
        <p:nvPicPr>
          <p:cNvPr id="17" name="Image 0" descr="/home/nimish/dev/vscode/parallel project/UCS645_ProjectReport_Template/images/speedup_bar.png">    </p:cNvPr>
          <p:cNvPicPr>
            <a:picLocks noChangeAspect="1"/>
          </p:cNvPicPr>
          <p:nvPr/>
        </p:nvPicPr>
        <p:blipFill>
          <a:blip r:embed="rId1"/>
          <a:stretch>
            <a:fillRect/>
          </a:stretch>
        </p:blipFill>
        <p:spPr>
          <a:xfrm>
            <a:off x="274320" y="2697480"/>
            <a:ext cx="5029200" cy="2286000"/>
          </a:xfrm>
          <a:prstGeom prst="rect">
            <a:avLst/>
          </a:prstGeom>
        </p:spPr>
      </p:pic>
      <p:sp>
        <p:nvSpPr>
          <p:cNvPr id="18" name="Shape 15"/>
          <p:cNvSpPr/>
          <p:nvPr/>
        </p:nvSpPr>
        <p:spPr>
          <a:xfrm>
            <a:off x="5577840" y="2697480"/>
            <a:ext cx="3291840" cy="228600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19" name="Text 16"/>
          <p:cNvSpPr/>
          <p:nvPr/>
        </p:nvSpPr>
        <p:spPr>
          <a:xfrm>
            <a:off x="5760720" y="2788920"/>
            <a:ext cx="292608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Performance Table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3200400"/>
          <a:ext cx="3017520" cy="914400"/>
        </p:xfrm>
        <a:graphic>
          <a:graphicData uri="http://schemas.openxmlformats.org/drawingml/2006/table">
            <a:tbl>
              <a:tblPr/>
              <a:tblGrid>
                <a:gridCol w="1097280"/>
                <a:gridCol w="914400"/>
                <a:gridCol w="914400"/>
              </a:tblGrid>
              <a:tr h="274320">
                <a:tc>
                  <a:txBody>
                    <a:bodyPr/>
                    <a:lstStyle/>
                    <a:p>
                      <a:pPr indent="0" marL="0">
                        <a:buNone/>
                      </a:pPr>
                      <a:r>
                        <a:rPr lang="en-US" sz="1000" b="1" dirty="0">
                          <a:solidFill>
                            <a:srgbClr val="FFFFFF"/>
                          </a:solidFill>
                        </a:rPr>
                        <a:t>Metric</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solidFill>
                      <a:srgbClr val="1A237E"/>
                    </a:solidFill>
                  </a:tcPr>
                </a:tc>
                <a:tc>
                  <a:txBody>
                    <a:bodyPr/>
                    <a:lstStyle/>
                    <a:p>
                      <a:pPr indent="0" marL="0">
                        <a:buNone/>
                      </a:pPr>
                      <a:r>
                        <a:rPr lang="en-US" sz="1000" b="1" dirty="0">
                          <a:solidFill>
                            <a:srgbClr val="FF5252"/>
                          </a:solidFill>
                        </a:rPr>
                        <a:t>CPU</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solidFill>
                      <a:srgbClr val="1A237E"/>
                    </a:solidFill>
                  </a:tcPr>
                </a:tc>
                <a:tc>
                  <a:txBody>
                    <a:bodyPr/>
                    <a:lstStyle/>
                    <a:p>
                      <a:pPr indent="0" marL="0">
                        <a:buNone/>
                      </a:pPr>
                      <a:r>
                        <a:rPr lang="en-US" sz="1000" b="1" dirty="0">
                          <a:solidFill>
                            <a:srgbClr val="00E676"/>
                          </a:solidFill>
                        </a:rPr>
                        <a:t>GPU</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solidFill>
                      <a:srgbClr val="1A237E"/>
                    </a:solidFill>
                  </a:tcPr>
                </a:tc>
              </a:tr>
              <a:tr h="256032">
                <a:tc>
                  <a:txBody>
                    <a:bodyPr/>
                    <a:lstStyle/>
                    <a:p>
                      <a:pPr indent="0" marL="0">
                        <a:buNone/>
                      </a:pPr>
                      <a:r>
                        <a:rPr lang="en-US" sz="1000" dirty="0">
                          <a:solidFill>
                            <a:srgbClr val="CCD6F6"/>
                          </a:solidFill>
                        </a:rPr>
                        <a:t>Time</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c>
                  <a:txBody>
                    <a:bodyPr/>
                    <a:lstStyle/>
                    <a:p>
                      <a:pPr indent="0" marL="0">
                        <a:buNone/>
                      </a:pPr>
                      <a:r>
                        <a:rPr lang="en-US" sz="1000" dirty="0">
                          <a:solidFill>
                            <a:srgbClr val="FF5252"/>
                          </a:solidFill>
                        </a:rPr>
                        <a:t>16.1 ms</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c>
                  <a:txBody>
                    <a:bodyPr/>
                    <a:lstStyle/>
                    <a:p>
                      <a:pPr indent="0" marL="0">
                        <a:buNone/>
                      </a:pPr>
                      <a:r>
                        <a:rPr lang="en-US" sz="1000" dirty="0">
                          <a:solidFill>
                            <a:srgbClr val="00E676"/>
                          </a:solidFill>
                        </a:rPr>
                        <a:t>0.545 ms</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r>
              <a:tr h="256032">
                <a:tc>
                  <a:txBody>
                    <a:bodyPr/>
                    <a:lstStyle/>
                    <a:p>
                      <a:pPr indent="0" marL="0">
                        <a:buNone/>
                      </a:pPr>
                      <a:r>
                        <a:rPr lang="en-US" sz="1000" dirty="0">
                          <a:solidFill>
                            <a:srgbClr val="CCD6F6"/>
                          </a:solidFill>
                        </a:rPr>
                        <a:t>Speedup</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c>
                  <a:txBody>
                    <a:bodyPr/>
                    <a:lstStyle/>
                    <a:p>
                      <a:pPr indent="0" marL="0">
                        <a:buNone/>
                      </a:pPr>
                      <a:r>
                        <a:rPr lang="en-US" sz="1000" dirty="0">
                          <a:solidFill>
                            <a:srgbClr val="CCD6F6"/>
                          </a:solidFill>
                        </a:rPr>
                        <a:t>1.0x</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c>
                  <a:txBody>
                    <a:bodyPr/>
                    <a:lstStyle/>
                    <a:p>
                      <a:pPr indent="0" marL="0">
                        <a:buNone/>
                      </a:pPr>
                      <a:r>
                        <a:rPr lang="en-US" sz="1000" b="1" dirty="0">
                          <a:solidFill>
                            <a:srgbClr val="F5C518"/>
                          </a:solidFill>
                        </a:rPr>
                        <a:t>29.6x</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r>
              <a:tr h="256032">
                <a:tc>
                  <a:txBody>
                    <a:bodyPr/>
                    <a:lstStyle/>
                    <a:p>
                      <a:pPr indent="0" marL="0">
                        <a:buNone/>
                      </a:pPr>
                      <a:r>
                        <a:rPr lang="en-US" sz="1000" dirty="0">
                          <a:solidFill>
                            <a:srgbClr val="CCD6F6"/>
                          </a:solidFill>
                        </a:rPr>
                        <a:t>Throughput</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c>
                  <a:txBody>
                    <a:bodyPr/>
                    <a:lstStyle/>
                    <a:p>
                      <a:pPr indent="0" marL="0">
                        <a:buNone/>
                      </a:pPr>
                      <a:r>
                        <a:rPr lang="en-US" sz="1000" dirty="0">
                          <a:solidFill>
                            <a:srgbClr val="CCD6F6"/>
                          </a:solidFill>
                        </a:rPr>
                        <a:t>—</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c>
                  <a:txBody>
                    <a:bodyPr/>
                    <a:lstStyle/>
                    <a:p>
                      <a:pPr indent="0" marL="0">
                        <a:buNone/>
                      </a:pPr>
                      <a:r>
                        <a:rPr lang="en-US" sz="1000" dirty="0">
                          <a:solidFill>
                            <a:srgbClr val="00D4FF"/>
                          </a:solidFill>
                        </a:rPr>
                        <a:t>17.6B/s</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r>
              <a:tr h="256032">
                <a:tc>
                  <a:txBody>
                    <a:bodyPr/>
                    <a:lstStyle/>
                    <a:p>
                      <a:pPr indent="0" marL="0">
                        <a:buNone/>
                      </a:pPr>
                      <a:r>
                        <a:rPr lang="en-US" sz="1000" dirty="0">
                          <a:solidFill>
                            <a:srgbClr val="CCD6F6"/>
                          </a:solidFill>
                        </a:rPr>
                        <a:t>Deliveries</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c>
                  <a:txBody>
                    <a:bodyPr/>
                    <a:lstStyle/>
                    <a:p>
                      <a:pPr indent="0" marL="0">
                        <a:buNone/>
                      </a:pPr>
                      <a:r>
                        <a:rPr lang="en-US" sz="1000" dirty="0">
                          <a:solidFill>
                            <a:srgbClr val="FF5252"/>
                          </a:solidFill>
                        </a:rPr>
                        <a:t>30/30</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c>
                  <a:txBody>
                    <a:bodyPr/>
                    <a:lstStyle/>
                    <a:p>
                      <a:pPr indent="0" marL="0">
                        <a:buNone/>
                      </a:pPr>
                      <a:r>
                        <a:rPr lang="en-US" sz="1000" dirty="0">
                          <a:solidFill>
                            <a:srgbClr val="00E676"/>
                          </a:solidFill>
                        </a:rPr>
                        <a:t>30/30</a:t>
                      </a:r>
                      <a:endParaRPr lang="en-US" sz="1000" dirty="0"/>
                    </a:p>
                  </a:txBody>
                  <a:tcPr marL="91440" marR="91440" marT="45720" marB="45720">
                    <a:lnL w="6350" cap="flat" cmpd="sng" algn="ctr">
                      <a:solidFill>
                        <a:srgbClr val="1A237E"/>
                      </a:solidFill>
                      <a:prstDash val="solid"/>
                      <a:round/>
                      <a:headEnd type="none" w="med" len="med"/>
                      <a:tailEnd type="none" w="med" len="med"/>
                    </a:lnL>
                    <a:lnR w="6350" cap="flat" cmpd="sng" algn="ctr">
                      <a:solidFill>
                        <a:srgbClr val="1A237E"/>
                      </a:solidFill>
                      <a:prstDash val="solid"/>
                      <a:round/>
                      <a:headEnd type="none" w="med" len="med"/>
                      <a:tailEnd type="none" w="med" len="med"/>
                    </a:lnR>
                    <a:lnT w="6350" cap="flat" cmpd="sng" algn="ctr">
                      <a:solidFill>
                        <a:srgbClr val="1A237E"/>
                      </a:solidFill>
                      <a:prstDash val="solid"/>
                      <a:round/>
                      <a:headEnd type="none" w="med" len="med"/>
                      <a:tailEnd type="none" w="med" len="med"/>
                    </a:lnT>
                    <a:lnB w="6350" cap="flat" cmpd="sng" algn="ctr">
                      <a:solidFill>
                        <a:srgbClr val="1A237E"/>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5C518"/>
          </a:solidFill>
          <a:ln/>
        </p:spPr>
      </p:sp>
      <p:sp>
        <p:nvSpPr>
          <p:cNvPr id="3" name="Text 1"/>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8 / 10</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Results: Swarm Simulation Outcomes</a:t>
            </a:r>
            <a:endParaRPr lang="en-US" sz="2600" dirty="0"/>
          </a:p>
        </p:txBody>
      </p:sp>
      <p:pic>
        <p:nvPicPr>
          <p:cNvPr id="5" name="Image 0" descr="/home/nimish/dev/vscode/parallel project/UCS645_ProjectReport_Template/images/gpu_vs_cpu_swarm.png">    </p:cNvPr>
          <p:cNvPicPr>
            <a:picLocks noChangeAspect="1"/>
          </p:cNvPicPr>
          <p:nvPr/>
        </p:nvPicPr>
        <p:blipFill>
          <a:blip r:embed="rId1"/>
          <a:stretch>
            <a:fillRect/>
          </a:stretch>
        </p:blipFill>
        <p:spPr>
          <a:xfrm>
            <a:off x="182880" y="914400"/>
            <a:ext cx="4846320" cy="2286000"/>
          </a:xfrm>
          <a:prstGeom prst="rect">
            <a:avLst/>
          </a:prstGeom>
        </p:spPr>
      </p:pic>
      <p:pic>
        <p:nvPicPr>
          <p:cNvPr id="6" name="Image 1" descr="/home/nimish/dev/vscode/parallel project/UCS645_ProjectReport_Template/images/delivery_analysis.png">    </p:cNvPr>
          <p:cNvPicPr>
            <a:picLocks noChangeAspect="1"/>
          </p:cNvPicPr>
          <p:nvPr/>
        </p:nvPicPr>
        <p:blipFill>
          <a:blip r:embed="rId2"/>
          <a:stretch>
            <a:fillRect/>
          </a:stretch>
        </p:blipFill>
        <p:spPr>
          <a:xfrm>
            <a:off x="5120640" y="914400"/>
            <a:ext cx="3840480" cy="2286000"/>
          </a:xfrm>
          <a:prstGeom prst="rect">
            <a:avLst/>
          </a:prstGeom>
        </p:spPr>
      </p:pic>
      <p:sp>
        <p:nvSpPr>
          <p:cNvPr id="7" name="Shape 3"/>
          <p:cNvSpPr/>
          <p:nvPr/>
        </p:nvSpPr>
        <p:spPr>
          <a:xfrm>
            <a:off x="274320" y="3383280"/>
            <a:ext cx="8595360" cy="160020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8" name="Text 4"/>
          <p:cNvSpPr/>
          <p:nvPr/>
        </p:nvSpPr>
        <p:spPr>
          <a:xfrm>
            <a:off x="457200" y="3474720"/>
            <a:ext cx="4572000" cy="320040"/>
          </a:xfrm>
          <a:prstGeom prst="rect">
            <a:avLst/>
          </a:prstGeom>
          <a:noFill/>
          <a:ln/>
        </p:spPr>
        <p:txBody>
          <a:bodyPr wrap="square" rtlCol="0" anchor="ctr"/>
          <a:lstStyle/>
          <a:p>
            <a:pPr indent="0" marL="0">
              <a:buNone/>
            </a:pPr>
            <a:r>
              <a:rPr lang="en-US" sz="1500" b="1" dirty="0">
                <a:solidFill>
                  <a:srgbClr val="F5C518"/>
                </a:solidFill>
                <a:latin typeface="Calibri" pitchFamily="34" charset="0"/>
                <a:ea typeface="Calibri" pitchFamily="34" charset="-122"/>
                <a:cs typeface="Calibri" pitchFamily="34" charset="-120"/>
              </a:rPr>
              <a:t>Performance Trade-off Analysis</a:t>
            </a:r>
            <a:endParaRPr lang="en-US" sz="1500" dirty="0"/>
          </a:p>
        </p:txBody>
      </p:sp>
      <p:sp>
        <p:nvSpPr>
          <p:cNvPr id="9" name="Text 5"/>
          <p:cNvSpPr/>
          <p:nvPr/>
        </p:nvSpPr>
        <p:spPr>
          <a:xfrm>
            <a:off x="457200" y="3840480"/>
            <a:ext cx="3931920" cy="274320"/>
          </a:xfrm>
          <a:prstGeom prst="rect">
            <a:avLst/>
          </a:prstGeom>
          <a:noFill/>
          <a:ln/>
        </p:spPr>
        <p:txBody>
          <a:bodyPr wrap="square" rtlCol="0" anchor="ctr"/>
          <a:lstStyle/>
          <a:p>
            <a:pPr indent="0" marL="0">
              <a:buNone/>
            </a:pPr>
            <a:r>
              <a:rPr lang="en-US" sz="1200" b="1" dirty="0">
                <a:solidFill>
                  <a:srgbClr val="FF5252"/>
                </a:solidFill>
                <a:latin typeface="Calibri" pitchFamily="34" charset="0"/>
                <a:ea typeface="Calibri" pitchFamily="34" charset="-122"/>
                <a:cs typeface="Calibri" pitchFamily="34" charset="-120"/>
              </a:rPr>
              <a:t>CPU BFS (Online)</a:t>
            </a:r>
            <a:endParaRPr lang="en-US" sz="1200" dirty="0"/>
          </a:p>
        </p:txBody>
      </p:sp>
      <p:sp>
        <p:nvSpPr>
          <p:cNvPr id="10" name="Text 6"/>
          <p:cNvSpPr/>
          <p:nvPr/>
        </p:nvSpPr>
        <p:spPr>
          <a:xfrm>
            <a:off x="548640" y="411480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Optimal shortest paths every step</a:t>
            </a:r>
            <a:endParaRPr lang="en-US" sz="950" dirty="0"/>
          </a:p>
        </p:txBody>
      </p:sp>
      <p:sp>
        <p:nvSpPr>
          <p:cNvPr id="11" name="Text 7"/>
          <p:cNvSpPr/>
          <p:nvPr/>
        </p:nvSpPr>
        <p:spPr>
          <a:xfrm>
            <a:off x="548640" y="429768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Full knowledge of all robot positions</a:t>
            </a:r>
            <a:endParaRPr lang="en-US" sz="950" dirty="0"/>
          </a:p>
        </p:txBody>
      </p:sp>
      <p:sp>
        <p:nvSpPr>
          <p:cNvPr id="12" name="Text 8"/>
          <p:cNvSpPr/>
          <p:nvPr/>
        </p:nvSpPr>
        <p:spPr>
          <a:xfrm>
            <a:off x="548640" y="448056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44 steps for 30 deliveries (efficient)</a:t>
            </a:r>
            <a:endParaRPr lang="en-US" sz="950" dirty="0"/>
          </a:p>
        </p:txBody>
      </p:sp>
      <p:sp>
        <p:nvSpPr>
          <p:cNvPr id="13" name="Text 9"/>
          <p:cNvSpPr/>
          <p:nvPr/>
        </p:nvSpPr>
        <p:spPr>
          <a:xfrm>
            <a:off x="548640" y="466344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BUT: O(grid² × robots) per step</a:t>
            </a:r>
            <a:endParaRPr lang="en-US" sz="950" dirty="0"/>
          </a:p>
        </p:txBody>
      </p:sp>
      <p:sp>
        <p:nvSpPr>
          <p:cNvPr id="14" name="Text 10"/>
          <p:cNvSpPr/>
          <p:nvPr/>
        </p:nvSpPr>
        <p:spPr>
          <a:xfrm>
            <a:off x="548640" y="484632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Cost scales poorly with more agents</a:t>
            </a:r>
            <a:endParaRPr lang="en-US" sz="950" dirty="0"/>
          </a:p>
        </p:txBody>
      </p:sp>
      <p:sp>
        <p:nvSpPr>
          <p:cNvPr id="15" name="Text 11"/>
          <p:cNvSpPr/>
          <p:nvPr/>
        </p:nvSpPr>
        <p:spPr>
          <a:xfrm>
            <a:off x="4754880" y="3840480"/>
            <a:ext cx="3931920" cy="274320"/>
          </a:xfrm>
          <a:prstGeom prst="rect">
            <a:avLst/>
          </a:prstGeom>
          <a:noFill/>
          <a:ln/>
        </p:spPr>
        <p:txBody>
          <a:bodyPr wrap="square" rtlCol="0" anchor="ctr"/>
          <a:lstStyle/>
          <a:p>
            <a:pPr indent="0" marL="0">
              <a:buNone/>
            </a:pPr>
            <a:r>
              <a:rPr lang="en-US" sz="1200" b="1" dirty="0">
                <a:solidFill>
                  <a:srgbClr val="00E676"/>
                </a:solidFill>
                <a:latin typeface="Calibri" pitchFamily="34" charset="0"/>
                <a:ea typeface="Calibri" pitchFamily="34" charset="-122"/>
                <a:cs typeface="Calibri" pitchFamily="34" charset="-120"/>
              </a:rPr>
              <a:t>GPU VI (Offline)</a:t>
            </a:r>
            <a:endParaRPr lang="en-US" sz="1200" dirty="0"/>
          </a:p>
        </p:txBody>
      </p:sp>
      <p:sp>
        <p:nvSpPr>
          <p:cNvPr id="16" name="Text 12"/>
          <p:cNvSpPr/>
          <p:nvPr/>
        </p:nvSpPr>
        <p:spPr>
          <a:xfrm>
            <a:off x="4846320" y="411480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Pre-computed global value function</a:t>
            </a:r>
            <a:endParaRPr lang="en-US" sz="950" dirty="0"/>
          </a:p>
        </p:txBody>
      </p:sp>
      <p:sp>
        <p:nvSpPr>
          <p:cNvPr id="17" name="Text 13"/>
          <p:cNvSpPr/>
          <p:nvPr/>
        </p:nvSpPr>
        <p:spPr>
          <a:xfrm>
            <a:off x="4846320" y="429768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Static occupancy penalty approximation</a:t>
            </a:r>
            <a:endParaRPr lang="en-US" sz="950" dirty="0"/>
          </a:p>
        </p:txBody>
      </p:sp>
      <p:sp>
        <p:nvSpPr>
          <p:cNvPr id="18" name="Text 14"/>
          <p:cNvSpPr/>
          <p:nvPr/>
        </p:nvSpPr>
        <p:spPr>
          <a:xfrm>
            <a:off x="4846320" y="448056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150 steps for 30 deliveries</a:t>
            </a:r>
            <a:endParaRPr lang="en-US" sz="950" dirty="0"/>
          </a:p>
        </p:txBody>
      </p:sp>
      <p:sp>
        <p:nvSpPr>
          <p:cNvPr id="19" name="Text 15"/>
          <p:cNvSpPr/>
          <p:nvPr/>
        </p:nvSpPr>
        <p:spPr>
          <a:xfrm>
            <a:off x="4846320" y="466344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BUT: 0.545ms training amortized</a:t>
            </a:r>
            <a:endParaRPr lang="en-US" sz="950" dirty="0"/>
          </a:p>
        </p:txBody>
      </p:sp>
      <p:sp>
        <p:nvSpPr>
          <p:cNvPr id="20" name="Text 16"/>
          <p:cNvSpPr/>
          <p:nvPr/>
        </p:nvSpPr>
        <p:spPr>
          <a:xfrm>
            <a:off x="4846320" y="4846320"/>
            <a:ext cx="3840480" cy="182880"/>
          </a:xfrm>
          <a:prstGeom prst="rect">
            <a:avLst/>
          </a:prstGeom>
          <a:noFill/>
          <a:ln/>
        </p:spPr>
        <p:txBody>
          <a:bodyPr wrap="square" rtlCol="0" anchor="ctr"/>
          <a:lstStyle/>
          <a:p>
            <a:pPr indent="0" marL="0">
              <a:buNone/>
            </a:pPr>
            <a:r>
              <a:rPr lang="en-US" sz="950" dirty="0">
                <a:solidFill>
                  <a:srgbClr val="CCD6F6"/>
                </a:solidFill>
                <a:latin typeface="Calibri" pitchFamily="34" charset="0"/>
                <a:ea typeface="Calibri" pitchFamily="34" charset="-122"/>
                <a:cs typeface="Calibri" pitchFamily="34" charset="-120"/>
              </a:rPr>
              <a:t>• Scales to larger grids and robot counts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5C518"/>
          </a:solidFill>
          <a:ln/>
        </p:spPr>
      </p:sp>
      <p:sp>
        <p:nvSpPr>
          <p:cNvPr id="3" name="Text 1"/>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9 / 10</a:t>
            </a:r>
            <a:endParaRPr lang="en-US" sz="900" dirty="0"/>
          </a:p>
        </p:txBody>
      </p:sp>
      <p:sp>
        <p:nvSpPr>
          <p:cNvPr id="4" name="Text 2"/>
          <p:cNvSpPr/>
          <p:nvPr/>
        </p:nvSpPr>
        <p:spPr>
          <a:xfrm>
            <a:off x="731520" y="274320"/>
            <a:ext cx="7680960" cy="54864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Visualization &amp; Analysis Suite</a:t>
            </a:r>
            <a:endParaRPr lang="en-US" sz="2600" dirty="0"/>
          </a:p>
        </p:txBody>
      </p:sp>
      <p:pic>
        <p:nvPicPr>
          <p:cNvPr id="5" name="Image 0" descr="/home/nimish/dev/vscode/parallel project/UCS645_ProjectReport_Template/images/active_robots.png">    </p:cNvPr>
          <p:cNvPicPr>
            <a:picLocks noChangeAspect="1"/>
          </p:cNvPicPr>
          <p:nvPr/>
        </p:nvPicPr>
        <p:blipFill>
          <a:blip r:embed="rId1"/>
          <a:stretch>
            <a:fillRect/>
          </a:stretch>
        </p:blipFill>
        <p:spPr>
          <a:xfrm>
            <a:off x="274320" y="1005840"/>
            <a:ext cx="4114800" cy="1508760"/>
          </a:xfrm>
          <a:prstGeom prst="rect">
            <a:avLst/>
          </a:prstGeom>
        </p:spPr>
      </p:pic>
      <p:sp>
        <p:nvSpPr>
          <p:cNvPr id="6" name="Text 3"/>
          <p:cNvSpPr/>
          <p:nvPr/>
        </p:nvSpPr>
        <p:spPr>
          <a:xfrm>
            <a:off x="274320" y="2240280"/>
            <a:ext cx="4114800" cy="228600"/>
          </a:xfrm>
          <a:prstGeom prst="rect">
            <a:avLst/>
          </a:prstGeom>
          <a:noFill/>
          <a:ln/>
        </p:spPr>
        <p:txBody>
          <a:bodyPr wrap="square" rtlCol="0" anchor="ctr"/>
          <a:lstStyle/>
          <a:p>
            <a:pPr algn="ctr" indent="0" marL="0">
              <a:buNone/>
            </a:pPr>
            <a:r>
              <a:rPr lang="en-US" sz="900" dirty="0">
                <a:solidFill>
                  <a:srgbClr val="F5C518"/>
                </a:solidFill>
                <a:latin typeface="Calibri" pitchFamily="34" charset="0"/>
                <a:ea typeface="Calibri" pitchFamily="34" charset="-122"/>
                <a:cs typeface="Calibri" pitchFamily="34" charset="-120"/>
              </a:rPr>
              <a:t>Active Robots Timeline</a:t>
            </a:r>
            <a:endParaRPr lang="en-US" sz="900" dirty="0"/>
          </a:p>
        </p:txBody>
      </p:sp>
      <p:pic>
        <p:nvPicPr>
          <p:cNvPr id="7" name="Image 1" descr="/home/nimish/dev/vscode/parallel project/UCS645_ProjectReport_Template/images/congestion_heatmap.png">    </p:cNvPr>
          <p:cNvPicPr>
            <a:picLocks noChangeAspect="1"/>
          </p:cNvPicPr>
          <p:nvPr/>
        </p:nvPicPr>
        <p:blipFill>
          <a:blip r:embed="rId2"/>
          <a:stretch>
            <a:fillRect/>
          </a:stretch>
        </p:blipFill>
        <p:spPr>
          <a:xfrm>
            <a:off x="4754880" y="1005840"/>
            <a:ext cx="4114800" cy="1508760"/>
          </a:xfrm>
          <a:prstGeom prst="rect">
            <a:avLst/>
          </a:prstGeom>
        </p:spPr>
      </p:pic>
      <p:sp>
        <p:nvSpPr>
          <p:cNvPr id="8" name="Text 4"/>
          <p:cNvSpPr/>
          <p:nvPr/>
        </p:nvSpPr>
        <p:spPr>
          <a:xfrm>
            <a:off x="4754880" y="2240280"/>
            <a:ext cx="4114800" cy="228600"/>
          </a:xfrm>
          <a:prstGeom prst="rect">
            <a:avLst/>
          </a:prstGeom>
          <a:noFill/>
          <a:ln/>
        </p:spPr>
        <p:txBody>
          <a:bodyPr wrap="square" rtlCol="0" anchor="ctr"/>
          <a:lstStyle/>
          <a:p>
            <a:pPr algn="ctr" indent="0" marL="0">
              <a:buNone/>
            </a:pPr>
            <a:r>
              <a:rPr lang="en-US" sz="900" dirty="0">
                <a:solidFill>
                  <a:srgbClr val="F5C518"/>
                </a:solidFill>
                <a:latin typeface="Calibri" pitchFamily="34" charset="0"/>
                <a:ea typeface="Calibri" pitchFamily="34" charset="-122"/>
                <a:cs typeface="Calibri" pitchFamily="34" charset="-120"/>
              </a:rPr>
              <a:t>Congestion Heatmap</a:t>
            </a:r>
            <a:endParaRPr lang="en-US" sz="900" dirty="0"/>
          </a:p>
        </p:txBody>
      </p:sp>
      <p:pic>
        <p:nvPicPr>
          <p:cNvPr id="9" name="Image 2" descr="/home/nimish/dev/vscode/parallel project/UCS645_ProjectReport_Template/images/state_space_scaling.png">    </p:cNvPr>
          <p:cNvPicPr>
            <a:picLocks noChangeAspect="1"/>
          </p:cNvPicPr>
          <p:nvPr/>
        </p:nvPicPr>
        <p:blipFill>
          <a:blip r:embed="rId3"/>
          <a:stretch>
            <a:fillRect/>
          </a:stretch>
        </p:blipFill>
        <p:spPr>
          <a:xfrm>
            <a:off x="274320" y="2606040"/>
            <a:ext cx="4114800" cy="1508760"/>
          </a:xfrm>
          <a:prstGeom prst="rect">
            <a:avLst/>
          </a:prstGeom>
        </p:spPr>
      </p:pic>
      <p:sp>
        <p:nvSpPr>
          <p:cNvPr id="10" name="Text 5"/>
          <p:cNvSpPr/>
          <p:nvPr/>
        </p:nvSpPr>
        <p:spPr>
          <a:xfrm>
            <a:off x="274320" y="3840480"/>
            <a:ext cx="4114800" cy="228600"/>
          </a:xfrm>
          <a:prstGeom prst="rect">
            <a:avLst/>
          </a:prstGeom>
          <a:noFill/>
          <a:ln/>
        </p:spPr>
        <p:txBody>
          <a:bodyPr wrap="square" rtlCol="0" anchor="ctr"/>
          <a:lstStyle/>
          <a:p>
            <a:pPr algn="ctr" indent="0" marL="0">
              <a:buNone/>
            </a:pPr>
            <a:r>
              <a:rPr lang="en-US" sz="900" dirty="0">
                <a:solidFill>
                  <a:srgbClr val="F5C518"/>
                </a:solidFill>
                <a:latin typeface="Calibri" pitchFamily="34" charset="0"/>
                <a:ea typeface="Calibri" pitchFamily="34" charset="-122"/>
                <a:cs typeface="Calibri" pitchFamily="34" charset="-120"/>
              </a:rPr>
              <a:t>State-Space Scaling (O(N⁴))</a:t>
            </a:r>
            <a:endParaRPr lang="en-US" sz="900" dirty="0"/>
          </a:p>
        </p:txBody>
      </p:sp>
      <p:pic>
        <p:nvPicPr>
          <p:cNvPr id="11" name="Image 3" descr="/home/nimish/dev/vscode/parallel project/UCS645_ProjectReport_Template/images/pcie_vs_zerocopy.png">    </p:cNvPr>
          <p:cNvPicPr>
            <a:picLocks noChangeAspect="1"/>
          </p:cNvPicPr>
          <p:nvPr/>
        </p:nvPicPr>
        <p:blipFill>
          <a:blip r:embed="rId4"/>
          <a:stretch>
            <a:fillRect/>
          </a:stretch>
        </p:blipFill>
        <p:spPr>
          <a:xfrm>
            <a:off x="4754880" y="2606040"/>
            <a:ext cx="4114800" cy="1508760"/>
          </a:xfrm>
          <a:prstGeom prst="rect">
            <a:avLst/>
          </a:prstGeom>
        </p:spPr>
      </p:pic>
      <p:sp>
        <p:nvSpPr>
          <p:cNvPr id="12" name="Text 6"/>
          <p:cNvSpPr/>
          <p:nvPr/>
        </p:nvSpPr>
        <p:spPr>
          <a:xfrm>
            <a:off x="4754880" y="3840480"/>
            <a:ext cx="4114800" cy="228600"/>
          </a:xfrm>
          <a:prstGeom prst="rect">
            <a:avLst/>
          </a:prstGeom>
          <a:noFill/>
          <a:ln/>
        </p:spPr>
        <p:txBody>
          <a:bodyPr wrap="square" rtlCol="0" anchor="ctr"/>
          <a:lstStyle/>
          <a:p>
            <a:pPr algn="ctr" indent="0" marL="0">
              <a:buNone/>
            </a:pPr>
            <a:r>
              <a:rPr lang="en-US" sz="900" dirty="0">
                <a:solidFill>
                  <a:srgbClr val="F5C518"/>
                </a:solidFill>
                <a:latin typeface="Calibri" pitchFamily="34" charset="0"/>
                <a:ea typeface="Calibri" pitchFamily="34" charset="-122"/>
                <a:cs typeface="Calibri" pitchFamily="34" charset="-120"/>
              </a:rPr>
              <a:t>PCIe Bottleneck Analysis</a:t>
            </a:r>
            <a:endParaRPr lang="en-US" sz="900" dirty="0"/>
          </a:p>
        </p:txBody>
      </p:sp>
      <p:sp>
        <p:nvSpPr>
          <p:cNvPr id="13" name="Shape 7"/>
          <p:cNvSpPr/>
          <p:nvPr/>
        </p:nvSpPr>
        <p:spPr>
          <a:xfrm>
            <a:off x="274320" y="4251960"/>
            <a:ext cx="8595360" cy="73152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14" name="Image 4" descr="preencoded.png">    </p:cNvPr>
          <p:cNvPicPr>
            <a:picLocks noChangeAspect="1"/>
          </p:cNvPicPr>
          <p:nvPr/>
        </p:nvPicPr>
        <p:blipFill>
          <a:blip r:embed="rId5"/>
          <a:stretch>
            <a:fillRect/>
          </a:stretch>
        </p:blipFill>
        <p:spPr>
          <a:xfrm>
            <a:off x="457200" y="4370832"/>
            <a:ext cx="320040" cy="320040"/>
          </a:xfrm>
          <a:prstGeom prst="rect">
            <a:avLst/>
          </a:prstGeom>
        </p:spPr>
      </p:pic>
      <p:sp>
        <p:nvSpPr>
          <p:cNvPr id="15" name="Text 8"/>
          <p:cNvSpPr/>
          <p:nvPr/>
        </p:nvSpPr>
        <p:spPr>
          <a:xfrm>
            <a:off x="868680" y="4343400"/>
            <a:ext cx="7772400" cy="548640"/>
          </a:xfrm>
          <a:prstGeom prst="rect">
            <a:avLst/>
          </a:prstGeom>
          <a:noFill/>
          <a:ln/>
        </p:spPr>
        <p:txBody>
          <a:bodyPr wrap="square" rtlCol="0" anchor="ctr"/>
          <a:lstStyle/>
          <a:p>
            <a:pPr indent="0" marL="0">
              <a:buNone/>
            </a:pPr>
            <a:r>
              <a:rPr lang="en-US" sz="1100" b="1" dirty="0">
                <a:solidFill>
                  <a:srgbClr val="F5C518"/>
                </a:solidFill>
                <a:latin typeface="Calibri" pitchFamily="34" charset="0"/>
                <a:ea typeface="Calibri" pitchFamily="34" charset="-122"/>
                <a:cs typeface="Calibri" pitchFamily="34" charset="-120"/>
              </a:rPr>
              <a:t>Animation Output: </a:t>
            </a:r>
            <a:pPr indent="0" marL="0">
              <a:buNone/>
            </a:pPr>
            <a:r>
              <a:rPr lang="en-US" sz="1100" dirty="0">
                <a:solidFill>
                  <a:srgbClr val="CCD6F6"/>
                </a:solidFill>
                <a:latin typeface="Calibri" pitchFamily="34" charset="0"/>
                <a:ea typeface="Calibri" pitchFamily="34" charset="-122"/>
                <a:cs typeface="Calibri" pitchFamily="34" charset="-120"/>
              </a:rPr>
              <a:t>Interactive HTML (warehouse_sim.html) + MP4 Video (warehouse_sim.mp4) generated via matplotlib FuncAnimation at 10 FPS. </a:t>
            </a:r>
            <a:pPr indent="0" marL="0">
              <a:buNone/>
            </a:pPr>
            <a:r>
              <a:rPr lang="en-US" sz="1100" dirty="0">
                <a:solidFill>
                  <a:srgbClr val="CCD6F6"/>
                </a:solidFill>
                <a:latin typeface="Calibri" pitchFamily="34" charset="0"/>
                <a:ea typeface="Calibri" pitchFamily="34" charset="-122"/>
                <a:cs typeface="Calibri" pitchFamily="34" charset="-120"/>
              </a:rPr>
              <a:t>30 robots navigate the warehouse with color-coded paths, despawn on delivery, and the animation clearly shows collision avoidance in action.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44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5C518"/>
          </a:solidFill>
          <a:ln/>
        </p:spPr>
      </p:sp>
      <p:sp>
        <p:nvSpPr>
          <p:cNvPr id="3" name="Shape 1"/>
          <p:cNvSpPr/>
          <p:nvPr/>
        </p:nvSpPr>
        <p:spPr>
          <a:xfrm>
            <a:off x="0" y="5088636"/>
            <a:ext cx="9144000" cy="54864"/>
          </a:xfrm>
          <a:prstGeom prst="rect">
            <a:avLst/>
          </a:prstGeom>
          <a:solidFill>
            <a:srgbClr val="00D4FF"/>
          </a:solidFill>
          <a:ln/>
        </p:spPr>
      </p:sp>
      <p:sp>
        <p:nvSpPr>
          <p:cNvPr id="4" name="Text 2"/>
          <p:cNvSpPr/>
          <p:nvPr/>
        </p:nvSpPr>
        <p:spPr>
          <a:xfrm>
            <a:off x="8046720" y="4709160"/>
            <a:ext cx="914400" cy="320040"/>
          </a:xfrm>
          <a:prstGeom prst="rect">
            <a:avLst/>
          </a:prstGeom>
          <a:noFill/>
          <a:ln/>
        </p:spPr>
        <p:txBody>
          <a:bodyPr wrap="square" rtlCol="0" anchor="ctr"/>
          <a:lstStyle/>
          <a:p>
            <a:pPr algn="r" indent="0" marL="0">
              <a:buNone/>
            </a:pPr>
            <a:r>
              <a:rPr lang="en-US" sz="900" dirty="0">
                <a:solidFill>
                  <a:srgbClr val="8892B0"/>
                </a:solidFill>
                <a:latin typeface="Calibri" pitchFamily="34" charset="0"/>
                <a:ea typeface="Calibri" pitchFamily="34" charset="-122"/>
                <a:cs typeface="Calibri" pitchFamily="34" charset="-120"/>
              </a:rPr>
              <a:t>10 / 10</a:t>
            </a:r>
            <a:endParaRPr lang="en-US" sz="900" dirty="0"/>
          </a:p>
        </p:txBody>
      </p:sp>
      <p:sp>
        <p:nvSpPr>
          <p:cNvPr id="5" name="Text 3"/>
          <p:cNvSpPr/>
          <p:nvPr/>
        </p:nvSpPr>
        <p:spPr>
          <a:xfrm>
            <a:off x="731520" y="274320"/>
            <a:ext cx="7680960" cy="54864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Conclusion &amp; Future Work</a:t>
            </a:r>
            <a:endParaRPr lang="en-US" sz="2800" dirty="0"/>
          </a:p>
        </p:txBody>
      </p:sp>
      <p:sp>
        <p:nvSpPr>
          <p:cNvPr id="6" name="Shape 4"/>
          <p:cNvSpPr/>
          <p:nvPr/>
        </p:nvSpPr>
        <p:spPr>
          <a:xfrm>
            <a:off x="274320" y="1005840"/>
            <a:ext cx="4206240" cy="283464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7" name="Image 0" descr="preencoded.png">    </p:cNvPr>
          <p:cNvPicPr>
            <a:picLocks noChangeAspect="1"/>
          </p:cNvPicPr>
          <p:nvPr/>
        </p:nvPicPr>
        <p:blipFill>
          <a:blip r:embed="rId1"/>
          <a:stretch>
            <a:fillRect/>
          </a:stretch>
        </p:blipFill>
        <p:spPr>
          <a:xfrm>
            <a:off x="457200" y="1143000"/>
            <a:ext cx="320040" cy="320040"/>
          </a:xfrm>
          <a:prstGeom prst="rect">
            <a:avLst/>
          </a:prstGeom>
        </p:spPr>
      </p:pic>
      <p:sp>
        <p:nvSpPr>
          <p:cNvPr id="8" name="Text 5"/>
          <p:cNvSpPr/>
          <p:nvPr/>
        </p:nvSpPr>
        <p:spPr>
          <a:xfrm>
            <a:off x="868680" y="1143000"/>
            <a:ext cx="3200400" cy="365760"/>
          </a:xfrm>
          <a:prstGeom prst="rect">
            <a:avLst/>
          </a:prstGeom>
          <a:noFill/>
          <a:ln/>
        </p:spPr>
        <p:txBody>
          <a:bodyPr wrap="square" rtlCol="0" anchor="ctr"/>
          <a:lstStyle/>
          <a:p>
            <a:pPr indent="0" marL="0">
              <a:buNone/>
            </a:pPr>
            <a:r>
              <a:rPr lang="en-US" sz="1600" b="1" dirty="0">
                <a:solidFill>
                  <a:srgbClr val="F5C518"/>
                </a:solidFill>
                <a:latin typeface="Calibri" pitchFamily="34" charset="0"/>
                <a:ea typeface="Calibri" pitchFamily="34" charset="-122"/>
                <a:cs typeface="Calibri" pitchFamily="34" charset="-120"/>
              </a:rPr>
              <a:t>Key Achievements</a:t>
            </a:r>
            <a:endParaRPr lang="en-US" sz="1600" dirty="0"/>
          </a:p>
        </p:txBody>
      </p:sp>
      <p:sp>
        <p:nvSpPr>
          <p:cNvPr id="9" name="Text 6"/>
          <p:cNvSpPr/>
          <p:nvPr/>
        </p:nvSpPr>
        <p:spPr>
          <a:xfrm>
            <a:off x="457200" y="1645920"/>
            <a:ext cx="3840480" cy="274320"/>
          </a:xfrm>
          <a:prstGeom prst="rect">
            <a:avLst/>
          </a:prstGeom>
          <a:noFill/>
          <a:ln/>
        </p:spPr>
        <p:txBody>
          <a:bodyPr wrap="square" rtlCol="0" anchor="ctr"/>
          <a:lstStyle/>
          <a:p>
            <a:pPr indent="0" marL="0">
              <a:buNone/>
            </a:pPr>
            <a:r>
              <a:rPr lang="en-US" sz="1100" dirty="0">
                <a:solidFill>
                  <a:srgbClr val="CCD6F6"/>
                </a:solidFill>
                <a:latin typeface="Calibri" pitchFamily="34" charset="0"/>
                <a:ea typeface="Calibri" pitchFamily="34" charset="-122"/>
                <a:cs typeface="Calibri" pitchFamily="34" charset="-120"/>
              </a:rPr>
              <a:t>▸ 29.6× GPU speedup over CPU serial baseline</a:t>
            </a:r>
            <a:endParaRPr lang="en-US" sz="1100" dirty="0"/>
          </a:p>
        </p:txBody>
      </p:sp>
      <p:sp>
        <p:nvSpPr>
          <p:cNvPr id="10" name="Text 7"/>
          <p:cNvSpPr/>
          <p:nvPr/>
        </p:nvSpPr>
        <p:spPr>
          <a:xfrm>
            <a:off x="457200" y="1938528"/>
            <a:ext cx="3840480" cy="274320"/>
          </a:xfrm>
          <a:prstGeom prst="rect">
            <a:avLst/>
          </a:prstGeom>
          <a:noFill/>
          <a:ln/>
        </p:spPr>
        <p:txBody>
          <a:bodyPr wrap="square" rtlCol="0" anchor="ctr"/>
          <a:lstStyle/>
          <a:p>
            <a:pPr indent="0" marL="0">
              <a:buNone/>
            </a:pPr>
            <a:r>
              <a:rPr lang="en-US" sz="1100" dirty="0">
                <a:solidFill>
                  <a:srgbClr val="CCD6F6"/>
                </a:solidFill>
                <a:latin typeface="Calibri" pitchFamily="34" charset="0"/>
                <a:ea typeface="Calibri" pitchFamily="34" charset="-122"/>
                <a:cs typeface="Calibri" pitchFamily="34" charset="-120"/>
              </a:rPr>
              <a:t>▸ 100% delivery completion (30/30 robots)</a:t>
            </a:r>
            <a:endParaRPr lang="en-US" sz="1100" dirty="0"/>
          </a:p>
        </p:txBody>
      </p:sp>
      <p:sp>
        <p:nvSpPr>
          <p:cNvPr id="11" name="Text 8"/>
          <p:cNvSpPr/>
          <p:nvPr/>
        </p:nvSpPr>
        <p:spPr>
          <a:xfrm>
            <a:off x="457200" y="2231136"/>
            <a:ext cx="3840480" cy="274320"/>
          </a:xfrm>
          <a:prstGeom prst="rect">
            <a:avLst/>
          </a:prstGeom>
          <a:noFill/>
          <a:ln/>
        </p:spPr>
        <p:txBody>
          <a:bodyPr wrap="square" rtlCol="0" anchor="ctr"/>
          <a:lstStyle/>
          <a:p>
            <a:pPr indent="0" marL="0">
              <a:buNone/>
            </a:pPr>
            <a:r>
              <a:rPr lang="en-US" sz="1100" dirty="0">
                <a:solidFill>
                  <a:srgbClr val="CCD6F6"/>
                </a:solidFill>
                <a:latin typeface="Calibri" pitchFamily="34" charset="0"/>
                <a:ea typeface="Calibri" pitchFamily="34" charset="-122"/>
                <a:cs typeface="Calibri" pitchFamily="34" charset="-120"/>
              </a:rPr>
              <a:t>▸ 17.6B state evaluations per second throughput</a:t>
            </a:r>
            <a:endParaRPr lang="en-US" sz="1100" dirty="0"/>
          </a:p>
        </p:txBody>
      </p:sp>
      <p:sp>
        <p:nvSpPr>
          <p:cNvPr id="12" name="Text 9"/>
          <p:cNvSpPr/>
          <p:nvPr/>
        </p:nvSpPr>
        <p:spPr>
          <a:xfrm>
            <a:off x="457200" y="2523744"/>
            <a:ext cx="3840480" cy="274320"/>
          </a:xfrm>
          <a:prstGeom prst="rect">
            <a:avLst/>
          </a:prstGeom>
          <a:noFill/>
          <a:ln/>
        </p:spPr>
        <p:txBody>
          <a:bodyPr wrap="square" rtlCol="0" anchor="ctr"/>
          <a:lstStyle/>
          <a:p>
            <a:pPr indent="0" marL="0">
              <a:buNone/>
            </a:pPr>
            <a:r>
              <a:rPr lang="en-US" sz="1100" dirty="0">
                <a:solidFill>
                  <a:srgbClr val="CCD6F6"/>
                </a:solidFill>
                <a:latin typeface="Calibri" pitchFamily="34" charset="0"/>
                <a:ea typeface="Calibri" pitchFamily="34" charset="-122"/>
                <a:cs typeface="Calibri" pitchFamily="34" charset="-120"/>
              </a:rPr>
              <a:t>▸ Zero-copy VRAM architecture eliminates PCIe bottleneck</a:t>
            </a:r>
            <a:endParaRPr lang="en-US" sz="1100" dirty="0"/>
          </a:p>
        </p:txBody>
      </p:sp>
      <p:sp>
        <p:nvSpPr>
          <p:cNvPr id="13" name="Text 10"/>
          <p:cNvSpPr/>
          <p:nvPr/>
        </p:nvSpPr>
        <p:spPr>
          <a:xfrm>
            <a:off x="457200" y="2816352"/>
            <a:ext cx="3840480" cy="274320"/>
          </a:xfrm>
          <a:prstGeom prst="rect">
            <a:avLst/>
          </a:prstGeom>
          <a:noFill/>
          <a:ln/>
        </p:spPr>
        <p:txBody>
          <a:bodyPr wrap="square" rtlCol="0" anchor="ctr"/>
          <a:lstStyle/>
          <a:p>
            <a:pPr indent="0" marL="0">
              <a:buNone/>
            </a:pPr>
            <a:r>
              <a:rPr lang="en-US" sz="1100" dirty="0">
                <a:solidFill>
                  <a:srgbClr val="CCD6F6"/>
                </a:solidFill>
                <a:latin typeface="Calibri" pitchFamily="34" charset="0"/>
                <a:ea typeface="Calibri" pitchFamily="34" charset="-122"/>
                <a:cs typeface="Calibri" pitchFamily="34" charset="-120"/>
              </a:rPr>
              <a:t>▸ Lock-free collision avoidance with atomicCAS</a:t>
            </a:r>
            <a:endParaRPr lang="en-US" sz="1100" dirty="0"/>
          </a:p>
        </p:txBody>
      </p:sp>
      <p:sp>
        <p:nvSpPr>
          <p:cNvPr id="14" name="Text 11"/>
          <p:cNvSpPr/>
          <p:nvPr/>
        </p:nvSpPr>
        <p:spPr>
          <a:xfrm>
            <a:off x="457200" y="3108960"/>
            <a:ext cx="3840480" cy="274320"/>
          </a:xfrm>
          <a:prstGeom prst="rect">
            <a:avLst/>
          </a:prstGeom>
          <a:noFill/>
          <a:ln/>
        </p:spPr>
        <p:txBody>
          <a:bodyPr wrap="square" rtlCol="0" anchor="ctr"/>
          <a:lstStyle/>
          <a:p>
            <a:pPr indent="0" marL="0">
              <a:buNone/>
            </a:pPr>
            <a:r>
              <a:rPr lang="en-US" sz="1100" dirty="0">
                <a:solidFill>
                  <a:srgbClr val="CCD6F6"/>
                </a:solidFill>
                <a:latin typeface="Calibri" pitchFamily="34" charset="0"/>
                <a:ea typeface="Calibri" pitchFamily="34" charset="-122"/>
                <a:cs typeface="Calibri" pitchFamily="34" charset="-120"/>
              </a:rPr>
              <a:t>▸ Complete visualization: HTML animation + MP4 + 10 analysis charts</a:t>
            </a:r>
            <a:endParaRPr lang="en-US" sz="1100" dirty="0"/>
          </a:p>
        </p:txBody>
      </p:sp>
      <p:sp>
        <p:nvSpPr>
          <p:cNvPr id="15" name="Text 12"/>
          <p:cNvSpPr/>
          <p:nvPr/>
        </p:nvSpPr>
        <p:spPr>
          <a:xfrm>
            <a:off x="457200" y="3401568"/>
            <a:ext cx="3840480" cy="274320"/>
          </a:xfrm>
          <a:prstGeom prst="rect">
            <a:avLst/>
          </a:prstGeom>
          <a:noFill/>
          <a:ln/>
        </p:spPr>
        <p:txBody>
          <a:bodyPr wrap="square" rtlCol="0" anchor="ctr"/>
          <a:lstStyle/>
          <a:p>
            <a:pPr indent="0" marL="0">
              <a:buNone/>
            </a:pPr>
            <a:r>
              <a:rPr lang="en-US" sz="1100" dirty="0">
                <a:solidFill>
                  <a:srgbClr val="CCD6F6"/>
                </a:solidFill>
                <a:latin typeface="Calibri" pitchFamily="34" charset="0"/>
                <a:ea typeface="Calibri" pitchFamily="34" charset="-122"/>
                <a:cs typeface="Calibri" pitchFamily="34" charset="-120"/>
              </a:rPr>
              <a:t>▸ Rigorous CPU BFS baseline with OpenMP support</a:t>
            </a:r>
            <a:endParaRPr lang="en-US" sz="1100" dirty="0"/>
          </a:p>
        </p:txBody>
      </p:sp>
      <p:sp>
        <p:nvSpPr>
          <p:cNvPr id="16" name="Shape 13"/>
          <p:cNvSpPr/>
          <p:nvPr/>
        </p:nvSpPr>
        <p:spPr>
          <a:xfrm>
            <a:off x="4663440" y="1005840"/>
            <a:ext cx="4206240" cy="2834640"/>
          </a:xfrm>
          <a:prstGeom prst="rect">
            <a:avLst/>
          </a:prstGeom>
          <a:solidFill>
            <a:srgbClr val="162060"/>
          </a:solidFill>
          <a:ln/>
          <a:effectLst>
            <a:outerShdw sx="100000" sy="100000" kx="0" ky="0" algn="bl" rotWithShape="0" blurRad="50800" dist="12700" dir="8100000">
              <a:srgbClr val="000000">
                <a:alpha val="20000"/>
              </a:srgbClr>
            </a:outerShdw>
          </a:effectLst>
        </p:spPr>
      </p:sp>
      <p:pic>
        <p:nvPicPr>
          <p:cNvPr id="17" name="Image 1" descr="preencoded.png">    </p:cNvPr>
          <p:cNvPicPr>
            <a:picLocks noChangeAspect="1"/>
          </p:cNvPicPr>
          <p:nvPr/>
        </p:nvPicPr>
        <p:blipFill>
          <a:blip r:embed="rId2"/>
          <a:stretch>
            <a:fillRect/>
          </a:stretch>
        </p:blipFill>
        <p:spPr>
          <a:xfrm>
            <a:off x="4846320" y="1143000"/>
            <a:ext cx="320040" cy="320040"/>
          </a:xfrm>
          <a:prstGeom prst="rect">
            <a:avLst/>
          </a:prstGeom>
        </p:spPr>
      </p:pic>
      <p:sp>
        <p:nvSpPr>
          <p:cNvPr id="18" name="Text 14"/>
          <p:cNvSpPr/>
          <p:nvPr/>
        </p:nvSpPr>
        <p:spPr>
          <a:xfrm>
            <a:off x="5257800" y="1143000"/>
            <a:ext cx="3200400" cy="365760"/>
          </a:xfrm>
          <a:prstGeom prst="rect">
            <a:avLst/>
          </a:prstGeom>
          <a:noFill/>
          <a:ln/>
        </p:spPr>
        <p:txBody>
          <a:bodyPr wrap="square" rtlCol="0" anchor="ctr"/>
          <a:lstStyle/>
          <a:p>
            <a:pPr indent="0" marL="0">
              <a:buNone/>
            </a:pPr>
            <a:r>
              <a:rPr lang="en-US" sz="1600" b="1" dirty="0">
                <a:solidFill>
                  <a:srgbClr val="B388FF"/>
                </a:solidFill>
                <a:latin typeface="Calibri" pitchFamily="34" charset="0"/>
                <a:ea typeface="Calibri" pitchFamily="34" charset="-122"/>
                <a:cs typeface="Calibri" pitchFamily="34" charset="-120"/>
              </a:rPr>
              <a:t>Future Directions</a:t>
            </a:r>
            <a:endParaRPr lang="en-US" sz="1600" dirty="0"/>
          </a:p>
        </p:txBody>
      </p:sp>
      <p:sp>
        <p:nvSpPr>
          <p:cNvPr id="19" name="Text 15"/>
          <p:cNvSpPr/>
          <p:nvPr/>
        </p:nvSpPr>
        <p:spPr>
          <a:xfrm>
            <a:off x="4846320" y="1645920"/>
            <a:ext cx="384048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Multi-GPU Domain Decomposition</a:t>
            </a:r>
            <a:endParaRPr lang="en-US" sz="1100" dirty="0"/>
          </a:p>
        </p:txBody>
      </p:sp>
      <p:sp>
        <p:nvSpPr>
          <p:cNvPr id="20" name="Text 16"/>
          <p:cNvSpPr/>
          <p:nvPr/>
        </p:nvSpPr>
        <p:spPr>
          <a:xfrm>
            <a:off x="4846320" y="1828800"/>
            <a:ext cx="3840480" cy="164592"/>
          </a:xfrm>
          <a:prstGeom prst="rect">
            <a:avLst/>
          </a:prstGeom>
          <a:noFill/>
          <a:ln/>
        </p:spPr>
        <p:txBody>
          <a:bodyPr wrap="square" rtlCol="0" anchor="ctr"/>
          <a:lstStyle/>
          <a:p>
            <a:pPr indent="0" marL="0">
              <a:buNone/>
            </a:pPr>
            <a:r>
              <a:rPr lang="en-US" sz="900" dirty="0">
                <a:solidFill>
                  <a:srgbClr val="8892B0"/>
                </a:solidFill>
                <a:latin typeface="Calibri" pitchFamily="34" charset="0"/>
                <a:ea typeface="Calibri" pitchFamily="34" charset="-122"/>
                <a:cs typeface="Calibri" pitchFamily="34" charset="-120"/>
              </a:rPr>
              <a:t>Partition warehouse into zones with NCCL boundary communication</a:t>
            </a:r>
            <a:endParaRPr lang="en-US" sz="900" dirty="0"/>
          </a:p>
        </p:txBody>
      </p:sp>
      <p:sp>
        <p:nvSpPr>
          <p:cNvPr id="21" name="Text 17"/>
          <p:cNvSpPr/>
          <p:nvPr/>
        </p:nvSpPr>
        <p:spPr>
          <a:xfrm>
            <a:off x="4846320" y="1993392"/>
            <a:ext cx="384048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Deep RL Extension</a:t>
            </a:r>
            <a:endParaRPr lang="en-US" sz="1100" dirty="0"/>
          </a:p>
        </p:txBody>
      </p:sp>
      <p:sp>
        <p:nvSpPr>
          <p:cNvPr id="22" name="Text 18"/>
          <p:cNvSpPr/>
          <p:nvPr/>
        </p:nvSpPr>
        <p:spPr>
          <a:xfrm>
            <a:off x="4846320" y="2176272"/>
            <a:ext cx="3840480" cy="164592"/>
          </a:xfrm>
          <a:prstGeom prst="rect">
            <a:avLst/>
          </a:prstGeom>
          <a:noFill/>
          <a:ln/>
        </p:spPr>
        <p:txBody>
          <a:bodyPr wrap="square" rtlCol="0" anchor="ctr"/>
          <a:lstStyle/>
          <a:p>
            <a:pPr indent="0" marL="0">
              <a:buNone/>
            </a:pPr>
            <a:r>
              <a:rPr lang="en-US" sz="900" dirty="0">
                <a:solidFill>
                  <a:srgbClr val="8892B0"/>
                </a:solidFill>
                <a:latin typeface="Calibri" pitchFamily="34" charset="0"/>
                <a:ea typeface="Calibri" pitchFamily="34" charset="-122"/>
                <a:cs typeface="Calibri" pitchFamily="34" charset="-120"/>
              </a:rPr>
              <a:t>Neural value function approximator for continuous state spaces</a:t>
            </a:r>
            <a:endParaRPr lang="en-US" sz="900" dirty="0"/>
          </a:p>
        </p:txBody>
      </p:sp>
      <p:sp>
        <p:nvSpPr>
          <p:cNvPr id="23" name="Text 19"/>
          <p:cNvSpPr/>
          <p:nvPr/>
        </p:nvSpPr>
        <p:spPr>
          <a:xfrm>
            <a:off x="4846320" y="2340864"/>
            <a:ext cx="384048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Dynamic Obstacle Handling</a:t>
            </a:r>
            <a:endParaRPr lang="en-US" sz="1100" dirty="0"/>
          </a:p>
        </p:txBody>
      </p:sp>
      <p:sp>
        <p:nvSpPr>
          <p:cNvPr id="24" name="Text 20"/>
          <p:cNvSpPr/>
          <p:nvPr/>
        </p:nvSpPr>
        <p:spPr>
          <a:xfrm>
            <a:off x="4846320" y="2523744"/>
            <a:ext cx="3840480" cy="164592"/>
          </a:xfrm>
          <a:prstGeom prst="rect">
            <a:avLst/>
          </a:prstGeom>
          <a:noFill/>
          <a:ln/>
        </p:spPr>
        <p:txBody>
          <a:bodyPr wrap="square" rtlCol="0" anchor="ctr"/>
          <a:lstStyle/>
          <a:p>
            <a:pPr indent="0" marL="0">
              <a:buNone/>
            </a:pPr>
            <a:r>
              <a:rPr lang="en-US" sz="900" dirty="0">
                <a:solidFill>
                  <a:srgbClr val="8892B0"/>
                </a:solidFill>
                <a:latin typeface="Calibri" pitchFamily="34" charset="0"/>
                <a:ea typeface="Calibri" pitchFamily="34" charset="-122"/>
                <a:cs typeface="Calibri" pitchFamily="34" charset="-120"/>
              </a:rPr>
              <a:t>Real-time replanning for humans, forklifts, moving obstacles</a:t>
            </a:r>
            <a:endParaRPr lang="en-US" sz="900" dirty="0"/>
          </a:p>
        </p:txBody>
      </p:sp>
      <p:sp>
        <p:nvSpPr>
          <p:cNvPr id="25" name="Text 21"/>
          <p:cNvSpPr/>
          <p:nvPr/>
        </p:nvSpPr>
        <p:spPr>
          <a:xfrm>
            <a:off x="4846320" y="2688336"/>
            <a:ext cx="384048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Priority-Aware Scheduling</a:t>
            </a:r>
            <a:endParaRPr lang="en-US" sz="1100" dirty="0"/>
          </a:p>
        </p:txBody>
      </p:sp>
      <p:sp>
        <p:nvSpPr>
          <p:cNvPr id="26" name="Text 22"/>
          <p:cNvSpPr/>
          <p:nvPr/>
        </p:nvSpPr>
        <p:spPr>
          <a:xfrm>
            <a:off x="4846320" y="2871216"/>
            <a:ext cx="3840480" cy="164592"/>
          </a:xfrm>
          <a:prstGeom prst="rect">
            <a:avLst/>
          </a:prstGeom>
          <a:noFill/>
          <a:ln/>
        </p:spPr>
        <p:txBody>
          <a:bodyPr wrap="square" rtlCol="0" anchor="ctr"/>
          <a:lstStyle/>
          <a:p>
            <a:pPr indent="0" marL="0">
              <a:buNone/>
            </a:pPr>
            <a:r>
              <a:rPr lang="en-US" sz="900" dirty="0">
                <a:solidFill>
                  <a:srgbClr val="8892B0"/>
                </a:solidFill>
                <a:latin typeface="Calibri" pitchFamily="34" charset="0"/>
                <a:ea typeface="Calibri" pitchFamily="34" charset="-122"/>
                <a:cs typeface="Calibri" pitchFamily="34" charset="-120"/>
              </a:rPr>
              <a:t>Differentiated rewards for HIGH/MEDIUM/LOW urgency deliveries</a:t>
            </a:r>
            <a:endParaRPr lang="en-US" sz="900" dirty="0"/>
          </a:p>
        </p:txBody>
      </p:sp>
      <p:sp>
        <p:nvSpPr>
          <p:cNvPr id="27" name="Text 23"/>
          <p:cNvSpPr/>
          <p:nvPr/>
        </p:nvSpPr>
        <p:spPr>
          <a:xfrm>
            <a:off x="4846320" y="3035808"/>
            <a:ext cx="384048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Battery-Constrained Navigation</a:t>
            </a:r>
            <a:endParaRPr lang="en-US" sz="1100" dirty="0"/>
          </a:p>
        </p:txBody>
      </p:sp>
      <p:sp>
        <p:nvSpPr>
          <p:cNvPr id="28" name="Text 24"/>
          <p:cNvSpPr/>
          <p:nvPr/>
        </p:nvSpPr>
        <p:spPr>
          <a:xfrm>
            <a:off x="4846320" y="3218688"/>
            <a:ext cx="3840480" cy="164592"/>
          </a:xfrm>
          <a:prstGeom prst="rect">
            <a:avLst/>
          </a:prstGeom>
          <a:noFill/>
          <a:ln/>
        </p:spPr>
        <p:txBody>
          <a:bodyPr wrap="square" rtlCol="0" anchor="ctr"/>
          <a:lstStyle/>
          <a:p>
            <a:pPr indent="0" marL="0">
              <a:buNone/>
            </a:pPr>
            <a:r>
              <a:rPr lang="en-US" sz="900" dirty="0">
                <a:solidFill>
                  <a:srgbClr val="8892B0"/>
                </a:solidFill>
                <a:latin typeface="Calibri" pitchFamily="34" charset="0"/>
                <a:ea typeface="Calibri" pitchFamily="34" charset="-122"/>
                <a:cs typeface="Calibri" pitchFamily="34" charset="-120"/>
              </a:rPr>
              <a:t>Finite energy model with autonomous charging station routing</a:t>
            </a:r>
            <a:endParaRPr lang="en-US" sz="900" dirty="0"/>
          </a:p>
        </p:txBody>
      </p:sp>
      <p:sp>
        <p:nvSpPr>
          <p:cNvPr id="29" name="Text 25"/>
          <p:cNvSpPr/>
          <p:nvPr/>
        </p:nvSpPr>
        <p:spPr>
          <a:xfrm>
            <a:off x="4846320" y="3383280"/>
            <a:ext cx="3840480" cy="1828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Hybrid GPU VI + CPU BFS</a:t>
            </a:r>
            <a:endParaRPr lang="en-US" sz="1100" dirty="0"/>
          </a:p>
        </p:txBody>
      </p:sp>
      <p:sp>
        <p:nvSpPr>
          <p:cNvPr id="30" name="Text 26"/>
          <p:cNvSpPr/>
          <p:nvPr/>
        </p:nvSpPr>
        <p:spPr>
          <a:xfrm>
            <a:off x="4846320" y="3566160"/>
            <a:ext cx="3840480" cy="164592"/>
          </a:xfrm>
          <a:prstGeom prst="rect">
            <a:avLst/>
          </a:prstGeom>
          <a:noFill/>
          <a:ln/>
        </p:spPr>
        <p:txBody>
          <a:bodyPr wrap="square" rtlCol="0" anchor="ctr"/>
          <a:lstStyle/>
          <a:p>
            <a:pPr indent="0" marL="0">
              <a:buNone/>
            </a:pPr>
            <a:r>
              <a:rPr lang="en-US" sz="900" dirty="0">
                <a:solidFill>
                  <a:srgbClr val="8892B0"/>
                </a:solidFill>
                <a:latin typeface="Calibri" pitchFamily="34" charset="0"/>
                <a:ea typeface="Calibri" pitchFamily="34" charset="-122"/>
                <a:cs typeface="Calibri" pitchFamily="34" charset="-120"/>
              </a:rPr>
              <a:t>Combine pre-computed value function with online BFS replanning</a:t>
            </a:r>
            <a:endParaRPr lang="en-US" sz="900" dirty="0"/>
          </a:p>
        </p:txBody>
      </p:sp>
      <p:sp>
        <p:nvSpPr>
          <p:cNvPr id="31" name="Shape 27"/>
          <p:cNvSpPr/>
          <p:nvPr/>
        </p:nvSpPr>
        <p:spPr>
          <a:xfrm>
            <a:off x="274320" y="4023360"/>
            <a:ext cx="8595360" cy="640080"/>
          </a:xfrm>
          <a:prstGeom prst="rect">
            <a:avLst/>
          </a:prstGeom>
          <a:solidFill>
            <a:srgbClr val="162060"/>
          </a:solidFill>
          <a:ln/>
          <a:effectLst>
            <a:outerShdw sx="100000" sy="100000" kx="0" ky="0" algn="bl" rotWithShape="0" blurRad="50800" dist="12700" dir="8100000">
              <a:srgbClr val="000000">
                <a:alpha val="20000"/>
              </a:srgbClr>
            </a:outerShdw>
          </a:effectLst>
        </p:spPr>
      </p:sp>
      <p:sp>
        <p:nvSpPr>
          <p:cNvPr id="32" name="Text 28"/>
          <p:cNvSpPr/>
          <p:nvPr/>
        </p:nvSpPr>
        <p:spPr>
          <a:xfrm>
            <a:off x="457200" y="4114800"/>
            <a:ext cx="8229600" cy="457200"/>
          </a:xfrm>
          <a:prstGeom prst="rect">
            <a:avLst/>
          </a:prstGeom>
          <a:noFill/>
          <a:ln/>
        </p:spPr>
        <p:txBody>
          <a:bodyPr wrap="square" rtlCol="0" anchor="ctr"/>
          <a:lstStyle/>
          <a:p>
            <a:pPr algn="ctr" indent="0" marL="0">
              <a:buNone/>
            </a:pPr>
            <a:r>
              <a:rPr lang="en-US" sz="1200" i="1" dirty="0">
                <a:solidFill>
                  <a:srgbClr val="CCD6F6"/>
                </a:solidFill>
                <a:latin typeface="Calibri" pitchFamily="34" charset="0"/>
                <a:ea typeface="Calibri" pitchFamily="34" charset="-122"/>
                <a:cs typeface="Calibri" pitchFamily="34" charset="-120"/>
              </a:rPr>
              <a:t>GPU-native model-based RL achieves 29.6× speedup with 100% delivery success. The zero-copy architecture is ready for real-world warehouse deployment at scale.</a:t>
            </a:r>
            <a:endParaRPr lang="en-US" sz="1200" dirty="0"/>
          </a:p>
        </p:txBody>
      </p:sp>
      <p:sp>
        <p:nvSpPr>
          <p:cNvPr id="33" name="Text 29"/>
          <p:cNvSpPr/>
          <p:nvPr/>
        </p:nvSpPr>
        <p:spPr>
          <a:xfrm>
            <a:off x="914400" y="4754880"/>
            <a:ext cx="7315200" cy="3200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Thank You!  |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Accelerating Multi-Agent RL via CUDA-Native Zero-Copy Architecture</dc:title>
  <dc:subject>PptxGenJS Presentation</dc:subject>
  <dc:creator>Nimish</dc:creator>
  <cp:lastModifiedBy>Nimish</cp:lastModifiedBy>
  <cp:revision>1</cp:revision>
  <dcterms:created xsi:type="dcterms:W3CDTF">2026-04-29T04:09:09Z</dcterms:created>
  <dcterms:modified xsi:type="dcterms:W3CDTF">2026-04-29T04:09:09Z</dcterms:modified>
</cp:coreProperties>
</file>